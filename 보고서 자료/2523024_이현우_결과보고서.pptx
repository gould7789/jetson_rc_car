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9CD05"/>
    <a:srgbClr val="60A5FA"/>
    <a:srgbClr val="E8F945"/>
    <a:srgbClr val="4D7AB2"/>
    <a:srgbClr val="415F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3" d="100"/>
          <a:sy n="103" d="100"/>
        </p:scale>
        <p:origin x="132" y="11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8.0053490000259311E-2"/>
          <c:w val="0.96252259676822449"/>
          <c:h val="0.82103636215732534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>
              <a:softEdge rad="0"/>
            </a:effectLst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ko-KR" sz="1600" b="1" dirty="0">
                        <a:solidFill>
                          <a:schemeClr val="bg1">
                            <a:lumMod val="85000"/>
                          </a:schemeClr>
                        </a:solidFill>
                      </a:rPr>
                      <a:t>Train</a:t>
                    </a:r>
                    <a:r>
                      <a:rPr lang="en-US" altLang="ko-KR" sz="1600" b="1" baseline="0" dirty="0">
                        <a:solidFill>
                          <a:schemeClr val="bg1">
                            <a:lumMod val="85000"/>
                          </a:schemeClr>
                        </a:solidFill>
                      </a:rPr>
                      <a:t> (</a:t>
                    </a:r>
                    <a:fld id="{20EBEBB7-C129-4454-ACBD-592DDF7E878E}" type="VALUE">
                      <a:rPr lang="en-US" altLang="ko-KR" sz="1600" b="1" smtClean="0">
                        <a:solidFill>
                          <a:schemeClr val="bg1">
                            <a:lumMod val="85000"/>
                          </a:schemeClr>
                        </a:solidFill>
                      </a:rPr>
                      <a:pPr/>
                      <a:t>[값]</a:t>
                    </a:fld>
                    <a:r>
                      <a:rPr lang="en-US" altLang="ko-KR" sz="1600" b="1" dirty="0">
                        <a:solidFill>
                          <a:schemeClr val="bg1">
                            <a:lumMod val="85000"/>
                          </a:schemeClr>
                        </a:solidFill>
                      </a:rPr>
                      <a:t>)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B4E5-4C39-9CBC-DC3232EBDD2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항목 1</c:v>
                </c:pt>
              </c:strCache>
            </c:strRef>
          </c:cat>
          <c:val>
            <c:numRef>
              <c:f>Sheet1!$B$2</c:f>
              <c:numCache>
                <c:formatCode>0%</c:formatCode>
                <c:ptCount val="1"/>
                <c:pt idx="0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4E5-4C39-9CBC-DC3232EBDD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</c:v>
                </c:pt>
              </c:strCache>
            </c:strRef>
          </c:tx>
          <c:spPr>
            <a:solidFill>
              <a:schemeClr val="accent3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ko-KR" sz="1600" dirty="0">
                        <a:solidFill>
                          <a:schemeClr val="bg1">
                            <a:lumMod val="85000"/>
                          </a:schemeClr>
                        </a:solidFill>
                      </a:rPr>
                      <a:t>Val (</a:t>
                    </a:r>
                    <a:fld id="{284DAA61-6110-40D7-A23B-10221D489B8C}" type="VALUE">
                      <a:rPr lang="en-US" altLang="ko-KR" sz="1600" smtClean="0">
                        <a:solidFill>
                          <a:schemeClr val="bg1">
                            <a:lumMod val="85000"/>
                          </a:schemeClr>
                        </a:solidFill>
                      </a:rPr>
                      <a:pPr/>
                      <a:t>[값]</a:t>
                    </a:fld>
                    <a:r>
                      <a:rPr lang="en-US" altLang="ko-KR" sz="1600" dirty="0">
                        <a:solidFill>
                          <a:schemeClr val="bg1">
                            <a:lumMod val="85000"/>
                          </a:schemeClr>
                        </a:solidFill>
                      </a:rPr>
                      <a:t>)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B4E5-4C39-9CBC-DC3232EBDD2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항목 1</c:v>
                </c:pt>
              </c:strCache>
            </c:strRef>
          </c:cat>
          <c:val>
            <c:numRef>
              <c:f>Sheet1!$C$2</c:f>
              <c:numCache>
                <c:formatCode>0%</c:formatCode>
                <c:ptCount val="1"/>
                <c:pt idx="0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4E5-4C39-9CBC-DC3232EBDD2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Test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ko-KR" sz="1600">
                        <a:solidFill>
                          <a:schemeClr val="bg1">
                            <a:lumMod val="85000"/>
                          </a:schemeClr>
                        </a:solidFill>
                      </a:rPr>
                      <a:t>Test (</a:t>
                    </a:r>
                    <a:fld id="{B0FC3AF4-25F6-4DA8-B731-A883960171D3}" type="VALUE">
                      <a:rPr lang="en-US" altLang="ko-KR" sz="1600" smtClean="0">
                        <a:solidFill>
                          <a:schemeClr val="bg1">
                            <a:lumMod val="85000"/>
                          </a:schemeClr>
                        </a:solidFill>
                      </a:rPr>
                      <a:pPr/>
                      <a:t>[값]</a:t>
                    </a:fld>
                    <a:r>
                      <a:rPr lang="en-US" altLang="ko-KR" sz="1600">
                        <a:solidFill>
                          <a:schemeClr val="bg1">
                            <a:lumMod val="85000"/>
                          </a:schemeClr>
                        </a:solidFill>
                      </a:rPr>
                      <a:t>)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B4E5-4C39-9CBC-DC3232EBDD2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항목 1</c:v>
                </c:pt>
              </c:strCache>
            </c:strRef>
          </c:cat>
          <c:val>
            <c:numRef>
              <c:f>Sheet1!$D$2</c:f>
              <c:numCache>
                <c:formatCode>0%</c:formatCode>
                <c:ptCount val="1"/>
                <c:pt idx="0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4E5-4C39-9CBC-DC3232EBDD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755416351"/>
        <c:axId val="1642177599"/>
      </c:barChart>
      <c:catAx>
        <c:axId val="175541635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642177599"/>
        <c:crosses val="autoZero"/>
        <c:auto val="1"/>
        <c:lblAlgn val="ctr"/>
        <c:lblOffset val="100"/>
        <c:noMultiLvlLbl val="0"/>
      </c:catAx>
      <c:valAx>
        <c:axId val="1642177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1755416351"/>
        <c:crosses val="autoZero"/>
        <c:crossBetween val="between"/>
      </c:valAx>
      <c:spPr>
        <a:solidFill>
          <a:srgbClr val="1A1A1A"/>
        </a:solidFill>
        <a:ln>
          <a:noFill/>
        </a:ln>
        <a:effectLst>
          <a:softEdge rad="673100"/>
        </a:effectLst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>
      <a:softEdge rad="0"/>
    </a:effectLst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076977-29F3-4216-8D48-1840780CAD48}" type="datetimeFigureOut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94494B-40B7-402D-808A-28AAB52F8D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18444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4494B-40B7-402D-808A-28AAB52F8DB8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56494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4494B-40B7-402D-808A-28AAB52F8DB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433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4494B-40B7-402D-808A-28AAB52F8DB8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64936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4494B-40B7-402D-808A-28AAB52F8DB8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36958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4494B-40B7-402D-808A-28AAB52F8DB8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08666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150169" y="2241163"/>
            <a:ext cx="5891357" cy="19184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0A5FA"/>
                </a:solidFill>
              </a:defRPr>
            </a:pPr>
            <a:r>
              <a:rPr dirty="0"/>
              <a:t>CAPSTONE DESIGN</a:t>
            </a:r>
          </a:p>
          <a:p>
            <a:pPr algn="ctr">
              <a:spcBef>
                <a:spcPts val="2000"/>
              </a:spcBef>
              <a:defRPr sz="2000">
                <a:solidFill>
                  <a:srgbClr val="888888"/>
                </a:solidFill>
              </a:defRPr>
            </a:pPr>
            <a:r>
              <a:rPr lang="ko-KR" altLang="en-US" sz="3200" dirty="0">
                <a:solidFill>
                  <a:schemeClr val="bg1">
                    <a:lumMod val="75000"/>
                  </a:schemeClr>
                </a:solidFill>
              </a:rPr>
              <a:t>자율주행 자동차 제작 결과 보고</a:t>
            </a:r>
            <a:endParaRPr lang="en-US" altLang="ko-KR" sz="3200" dirty="0">
              <a:solidFill>
                <a:schemeClr val="bg1">
                  <a:lumMod val="75000"/>
                </a:schemeClr>
              </a:solidFill>
            </a:endParaRPr>
          </a:p>
          <a:p>
            <a:pPr algn="ctr"/>
            <a:br>
              <a:rPr dirty="0"/>
            </a:br>
            <a:r>
              <a:rPr lang="en-US" altLang="ko-KR" dirty="0">
                <a:solidFill>
                  <a:schemeClr val="bg1">
                    <a:lumMod val="75000"/>
                  </a:schemeClr>
                </a:solidFill>
              </a:rPr>
              <a:t>2523024</a:t>
            </a:r>
            <a:br>
              <a:rPr dirty="0">
                <a:solidFill>
                  <a:schemeClr val="bg1">
                    <a:lumMod val="75000"/>
                  </a:schemeClr>
                </a:solidFill>
              </a:rPr>
            </a:br>
            <a:r>
              <a:rPr lang="ko-KR" altLang="en-US" dirty="0">
                <a:solidFill>
                  <a:schemeClr val="bg1">
                    <a:lumMod val="75000"/>
                  </a:schemeClr>
                </a:solidFill>
              </a:rPr>
              <a:t>이현우</a:t>
            </a:r>
            <a:endParaRPr dirty="0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92240"/>
            <a:ext cx="233589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88888"/>
                </a:solidFill>
              </a:defRPr>
            </a:pPr>
            <a:r>
              <a:rPr lang="ko-KR" altLang="en-US" dirty="0"/>
              <a:t>글로벌시스템융합과</a:t>
            </a:r>
            <a:r>
              <a:rPr dirty="0"/>
              <a:t>		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364875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rPr sz="2400" dirty="0">
                <a:solidFill>
                  <a:schemeClr val="bg1">
                    <a:lumMod val="75000"/>
                  </a:schemeClr>
                </a:solidFill>
              </a:rPr>
              <a:t>1. </a:t>
            </a:r>
            <a:r>
              <a:rPr sz="2400" dirty="0" err="1">
                <a:solidFill>
                  <a:schemeClr val="bg1">
                    <a:lumMod val="75000"/>
                  </a:schemeClr>
                </a:solidFill>
              </a:rPr>
              <a:t>하드웨어</a:t>
            </a:r>
            <a:r>
              <a:rPr sz="24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sz="2400" dirty="0" err="1">
                <a:solidFill>
                  <a:schemeClr val="bg1">
                    <a:lumMod val="75000"/>
                  </a:schemeClr>
                </a:solidFill>
              </a:rPr>
              <a:t>구성</a:t>
            </a:r>
            <a:r>
              <a:rPr sz="2400" dirty="0">
                <a:solidFill>
                  <a:schemeClr val="bg1">
                    <a:lumMod val="75000"/>
                  </a:schemeClr>
                </a:solidFill>
              </a:rPr>
              <a:t> 및 </a:t>
            </a:r>
            <a:r>
              <a:rPr sz="2400" dirty="0" err="1">
                <a:solidFill>
                  <a:schemeClr val="bg1">
                    <a:lumMod val="75000"/>
                  </a:schemeClr>
                </a:solidFill>
              </a:rPr>
              <a:t>제작</a:t>
            </a:r>
            <a:endParaRPr sz="24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69166" y="1654850"/>
            <a:ext cx="5374433" cy="3831551"/>
          </a:xfrm>
          <a:prstGeom prst="roundRect">
            <a:avLst/>
          </a:prstGeom>
          <a:solidFill>
            <a:srgbClr val="2A2A2A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rIns="182880" rtlCol="0" anchor="ctr"/>
          <a:lstStyle/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맑은 고딕"/>
              </a:defRPr>
            </a:pP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6217920" y="1654850"/>
            <a:ext cx="5486400" cy="3831551"/>
          </a:xfrm>
          <a:prstGeom prst="roundRect">
            <a:avLst/>
          </a:prstGeom>
          <a:solidFill>
            <a:srgbClr val="2A2A2A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rIns="182880" rtlCol="0" anchor="ctr"/>
          <a:lstStyle/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맑은 고딕"/>
              </a:defRPr>
            </a:pPr>
            <a:endParaRPr dirty="0"/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맑은 고딕"/>
              </a:defRPr>
            </a:pPr>
            <a:endParaRPr dirty="0"/>
          </a:p>
        </p:txBody>
      </p:sp>
      <p:cxnSp>
        <p:nvCxnSpPr>
          <p:cNvPr id="6" name="Connector 5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492240"/>
            <a:ext cx="233589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</a:defRPr>
            </a:pPr>
            <a:r>
              <a:rPr lang="ko-KR" altLang="en-US" dirty="0"/>
              <a:t>글로벌시스템융합과 </a:t>
            </a:r>
            <a:r>
              <a:rPr dirty="0"/>
              <a:t>		2 / 10</a:t>
            </a:r>
          </a:p>
        </p:txBody>
      </p:sp>
      <p:cxnSp>
        <p:nvCxnSpPr>
          <p:cNvPr id="8" name="Connector 5">
            <a:extLst>
              <a:ext uri="{FF2B5EF4-FFF2-40B4-BE49-F238E27FC236}">
                <a16:creationId xmlns:a16="http://schemas.microsoft.com/office/drawing/2014/main" id="{F2062A58-C92B-4FFD-B2CD-A2F4DD96D24E}"/>
              </a:ext>
            </a:extLst>
          </p:cNvPr>
          <p:cNvCxnSpPr/>
          <p:nvPr/>
        </p:nvCxnSpPr>
        <p:spPr>
          <a:xfrm>
            <a:off x="457200" y="827425"/>
            <a:ext cx="11274552" cy="0"/>
          </a:xfrm>
          <a:prstGeom prst="line">
            <a:avLst/>
          </a:prstGeom>
          <a:ln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88B9855-8AE7-4C06-A4FE-8035CF28CC65}"/>
              </a:ext>
            </a:extLst>
          </p:cNvPr>
          <p:cNvSpPr txBox="1"/>
          <p:nvPr/>
        </p:nvSpPr>
        <p:spPr>
          <a:xfrm>
            <a:off x="6217920" y="1202516"/>
            <a:ext cx="2366243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  <a:defRPr sz="1800" b="1">
                <a:solidFill>
                  <a:srgbClr val="60A5FA"/>
                </a:solidFill>
                <a:latin typeface="맑은 고딕"/>
              </a:defRPr>
            </a:pPr>
            <a:r>
              <a:rPr lang="ko-KR" altLang="en-US" dirty="0">
                <a:solidFill>
                  <a:srgbClr val="C00000"/>
                </a:solidFill>
              </a:rPr>
              <a:t>🚗</a:t>
            </a:r>
            <a:r>
              <a:rPr lang="ko-KR" altLang="en-US" dirty="0"/>
              <a:t> 실제 제작 결과물</a:t>
            </a:r>
          </a:p>
          <a:p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9F1D2E-5204-4F3B-BABD-6A8DC114F728}"/>
              </a:ext>
            </a:extLst>
          </p:cNvPr>
          <p:cNvSpPr txBox="1"/>
          <p:nvPr/>
        </p:nvSpPr>
        <p:spPr>
          <a:xfrm>
            <a:off x="457200" y="1193185"/>
            <a:ext cx="2366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  <a:defRPr sz="1800" b="1">
                <a:solidFill>
                  <a:srgbClr val="60A5FA"/>
                </a:solidFill>
                <a:latin typeface="맑은 고딕"/>
              </a:defRPr>
            </a:pPr>
            <a:r>
              <a:rPr lang="ko-KR" altLang="en-US" dirty="0">
                <a:solidFill>
                  <a:srgbClr val="C00000"/>
                </a:solidFill>
              </a:rPr>
              <a:t>📌</a:t>
            </a:r>
            <a:r>
              <a:rPr lang="ko-KR" altLang="en-US" dirty="0"/>
              <a:t> 초기 구상 도식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FC6E34-06CF-4B16-9094-6B28F47A0EA4}"/>
              </a:ext>
            </a:extLst>
          </p:cNvPr>
          <p:cNvSpPr txBox="1"/>
          <p:nvPr/>
        </p:nvSpPr>
        <p:spPr>
          <a:xfrm>
            <a:off x="569166" y="5645020"/>
            <a:ext cx="495455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맑은 고딕"/>
              </a:defRPr>
            </a:pPr>
            <a:r>
              <a:rPr lang="en-US" altLang="ko-KR" dirty="0">
                <a:solidFill>
                  <a:schemeClr val="bg1">
                    <a:lumMod val="75000"/>
                  </a:schemeClr>
                </a:solidFill>
              </a:rPr>
              <a:t>• Jetson Nano </a:t>
            </a:r>
            <a:r>
              <a:rPr lang="ko-KR" altLang="en-US" dirty="0">
                <a:solidFill>
                  <a:schemeClr val="bg1">
                    <a:lumMod val="75000"/>
                  </a:schemeClr>
                </a:solidFill>
              </a:rPr>
              <a:t>개발 보드 활용</a:t>
            </a:r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맑은 고딕"/>
              </a:defRPr>
            </a:pPr>
            <a:r>
              <a:rPr lang="en-US" altLang="ko-KR" dirty="0">
                <a:solidFill>
                  <a:schemeClr val="bg1">
                    <a:lumMod val="75000"/>
                  </a:schemeClr>
                </a:solidFill>
              </a:rPr>
              <a:t>• </a:t>
            </a:r>
            <a:r>
              <a:rPr lang="ko-KR" altLang="en-US" dirty="0">
                <a:solidFill>
                  <a:schemeClr val="bg1">
                    <a:lumMod val="75000"/>
                  </a:schemeClr>
                </a:solidFill>
              </a:rPr>
              <a:t>카메라 모듈을 통한 전방 라인 인식</a:t>
            </a:r>
          </a:p>
          <a:p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EB04A8-67C0-40BF-AC85-9B75ADB16DCB}"/>
              </a:ext>
            </a:extLst>
          </p:cNvPr>
          <p:cNvSpPr txBox="1"/>
          <p:nvPr/>
        </p:nvSpPr>
        <p:spPr>
          <a:xfrm>
            <a:off x="6217920" y="5645020"/>
            <a:ext cx="495455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맑은 고딕"/>
              </a:defRPr>
            </a:pPr>
            <a:r>
              <a:rPr lang="en-US" altLang="ko-KR" dirty="0">
                <a:solidFill>
                  <a:schemeClr val="bg1">
                    <a:lumMod val="75000"/>
                  </a:schemeClr>
                </a:solidFill>
              </a:rPr>
              <a:t>• </a:t>
            </a:r>
            <a:r>
              <a:rPr lang="ko-KR" altLang="en-US" dirty="0" err="1">
                <a:solidFill>
                  <a:schemeClr val="bg1">
                    <a:lumMod val="75000"/>
                  </a:schemeClr>
                </a:solidFill>
              </a:rPr>
              <a:t>구동계</a:t>
            </a:r>
            <a:r>
              <a:rPr lang="ko-KR" altLang="en-US" dirty="0">
                <a:solidFill>
                  <a:schemeClr val="bg1">
                    <a:lumMod val="75000"/>
                  </a:schemeClr>
                </a:solidFill>
              </a:rPr>
              <a:t> 및 </a:t>
            </a:r>
            <a:r>
              <a:rPr lang="ko-KR" altLang="en-US" dirty="0" err="1">
                <a:solidFill>
                  <a:schemeClr val="bg1">
                    <a:lumMod val="75000"/>
                  </a:schemeClr>
                </a:solidFill>
              </a:rPr>
              <a:t>조향</a:t>
            </a:r>
            <a:r>
              <a:rPr lang="ko-KR" altLang="en-US" dirty="0">
                <a:solidFill>
                  <a:schemeClr val="bg1">
                    <a:lumMod val="75000"/>
                  </a:schemeClr>
                </a:solidFill>
              </a:rPr>
              <a:t> 장치 조립 완료</a:t>
            </a:r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맑은 고딕"/>
              </a:defRPr>
            </a:pPr>
            <a:r>
              <a:rPr lang="en-US" altLang="ko-KR" dirty="0">
                <a:solidFill>
                  <a:schemeClr val="bg1">
                    <a:lumMod val="75000"/>
                  </a:schemeClr>
                </a:solidFill>
              </a:rPr>
              <a:t>• </a:t>
            </a:r>
            <a:r>
              <a:rPr lang="ko-KR" altLang="en-US" dirty="0">
                <a:solidFill>
                  <a:schemeClr val="bg1">
                    <a:lumMod val="75000"/>
                  </a:schemeClr>
                </a:solidFill>
              </a:rPr>
              <a:t>배터리 및 센서 안정화 작업</a:t>
            </a:r>
          </a:p>
          <a:p>
            <a:endParaRPr lang="ko-KR" altLang="en-US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1616D703-BCD1-47B4-AA68-992DA28CA4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690" y="1816188"/>
            <a:ext cx="4615031" cy="3508874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028CBEFC-740F-4947-93B0-4AE9078E10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7205982" y="1278897"/>
            <a:ext cx="3511571" cy="458076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맑은 고딕"/>
              </a:defRPr>
            </a:pPr>
            <a:endParaRPr lang="en-US" altLang="ko-KR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468109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rPr sz="2400" dirty="0">
                <a:solidFill>
                  <a:schemeClr val="bg1">
                    <a:lumMod val="75000"/>
                  </a:schemeClr>
                </a:solidFill>
              </a:rPr>
              <a:t>2. </a:t>
            </a:r>
            <a:r>
              <a:rPr sz="2400" dirty="0" err="1">
                <a:solidFill>
                  <a:schemeClr val="bg1">
                    <a:lumMod val="75000"/>
                  </a:schemeClr>
                </a:solidFill>
              </a:rPr>
              <a:t>학습</a:t>
            </a:r>
            <a:r>
              <a:rPr sz="24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sz="2400" dirty="0" err="1">
                <a:solidFill>
                  <a:schemeClr val="bg1">
                    <a:lumMod val="75000"/>
                  </a:schemeClr>
                </a:solidFill>
              </a:rPr>
              <a:t>프로세스</a:t>
            </a:r>
            <a:r>
              <a:rPr sz="2400" dirty="0">
                <a:solidFill>
                  <a:schemeClr val="bg1">
                    <a:lumMod val="75000"/>
                  </a:schemeClr>
                </a:solidFill>
              </a:rPr>
              <a:t> 및 </a:t>
            </a:r>
            <a:r>
              <a:rPr sz="2400" dirty="0" err="1">
                <a:solidFill>
                  <a:schemeClr val="bg1">
                    <a:lumMod val="75000"/>
                  </a:schemeClr>
                </a:solidFill>
              </a:rPr>
              <a:t>데이터</a:t>
            </a:r>
            <a:r>
              <a:rPr sz="24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sz="2400" dirty="0" err="1">
                <a:solidFill>
                  <a:schemeClr val="bg1">
                    <a:lumMod val="75000"/>
                  </a:schemeClr>
                </a:solidFill>
              </a:rPr>
              <a:t>전략</a:t>
            </a:r>
            <a:endParaRPr sz="24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657600" cy="1828800"/>
          </a:xfrm>
          <a:prstGeom prst="roundRect">
            <a:avLst/>
          </a:prstGeom>
          <a:solidFill>
            <a:srgbClr val="2A2A2A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sz="2400" dirty="0">
                <a:solidFill>
                  <a:srgbClr val="FFFF00"/>
                </a:solidFill>
              </a:rPr>
              <a:t>📷</a:t>
            </a:r>
            <a:r>
              <a:rPr dirty="0"/>
              <a:t> </a:t>
            </a:r>
            <a:endParaRPr lang="en-US" altLang="ko-KR" dirty="0"/>
          </a:p>
          <a:p>
            <a:pPr algn="ctr">
              <a:defRPr sz="1600" b="1">
                <a:solidFill>
                  <a:srgbClr val="FFFFFF"/>
                </a:solidFill>
              </a:defRPr>
            </a:pPr>
            <a:endParaRPr lang="en-US" altLang="ko-KR" sz="1050" dirty="0"/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데이터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수집</a:t>
            </a:r>
            <a:endParaRPr dirty="0">
              <a:solidFill>
                <a:schemeClr val="bg1">
                  <a:lumMod val="85000"/>
                </a:schemeClr>
              </a:solidFill>
            </a:endParaRPr>
          </a:p>
          <a:p>
            <a:pPr algn="ctr">
              <a:defRPr sz="1200">
                <a:solidFill>
                  <a:srgbClr val="888888"/>
                </a:solidFill>
              </a:defRPr>
            </a:pPr>
            <a:r>
              <a:rPr dirty="0"/>
              <a:t>Joystick </a:t>
            </a:r>
            <a:r>
              <a:rPr dirty="0" err="1"/>
              <a:t>조종</a:t>
            </a:r>
            <a:r>
              <a:rPr dirty="0"/>
              <a:t> &amp; </a:t>
            </a:r>
            <a:r>
              <a:rPr dirty="0" err="1"/>
              <a:t>촬영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4297680" y="1371600"/>
            <a:ext cx="3657600" cy="1828800"/>
          </a:xfrm>
          <a:prstGeom prst="roundRect">
            <a:avLst/>
          </a:prstGeom>
          <a:solidFill>
            <a:srgbClr val="2A2A2A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sz="2400" dirty="0">
                <a:solidFill>
                  <a:srgbClr val="00B050"/>
                </a:solidFill>
              </a:rPr>
              <a:t>🧠 </a:t>
            </a:r>
            <a:endParaRPr lang="en-US" altLang="ko-KR" sz="2400" dirty="0">
              <a:solidFill>
                <a:srgbClr val="00B050"/>
              </a:solidFill>
            </a:endParaRPr>
          </a:p>
          <a:p>
            <a:pPr algn="ctr">
              <a:defRPr sz="1600" b="1">
                <a:solidFill>
                  <a:srgbClr val="FFFFFF"/>
                </a:solidFill>
              </a:defRPr>
            </a:pPr>
            <a:endParaRPr lang="en-US" altLang="ko-KR" sz="1000" dirty="0"/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모델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학습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 (CNN)</a:t>
            </a:r>
          </a:p>
          <a:p>
            <a:pPr algn="ctr">
              <a:defRPr sz="1200">
                <a:solidFill>
                  <a:srgbClr val="888888"/>
                </a:solidFill>
              </a:defRPr>
            </a:pPr>
            <a:r>
              <a:rPr dirty="0"/>
              <a:t>ResNet-18 / Epoch 50+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371600"/>
            <a:ext cx="3657600" cy="1828800"/>
          </a:xfrm>
          <a:prstGeom prst="roundRect">
            <a:avLst/>
          </a:prstGeom>
          <a:solidFill>
            <a:srgbClr val="2A2A2A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lang="ko-KR" altLang="en-US" sz="2400" dirty="0">
                <a:solidFill>
                  <a:srgbClr val="00B0F0"/>
                </a:solidFill>
              </a:rPr>
              <a:t>🚗</a:t>
            </a:r>
            <a:r>
              <a:rPr lang="ko-KR" altLang="en-US" dirty="0">
                <a:solidFill>
                  <a:srgbClr val="C00000"/>
                </a:solidFill>
              </a:rPr>
              <a:t> </a:t>
            </a:r>
            <a:endParaRPr lang="en-US" altLang="ko-KR" dirty="0">
              <a:solidFill>
                <a:srgbClr val="C00000"/>
              </a:solidFill>
            </a:endParaRPr>
          </a:p>
          <a:p>
            <a:pPr algn="ctr">
              <a:defRPr sz="1600" b="1">
                <a:solidFill>
                  <a:srgbClr val="FFFFFF"/>
                </a:solidFill>
              </a:defRPr>
            </a:pPr>
            <a:endParaRPr lang="en-US" altLang="ko-KR" sz="1000" dirty="0">
              <a:solidFill>
                <a:srgbClr val="C00000"/>
              </a:solidFill>
            </a:endParaRPr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자율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주행</a:t>
            </a:r>
            <a:endParaRPr dirty="0">
              <a:solidFill>
                <a:schemeClr val="bg1">
                  <a:lumMod val="85000"/>
                </a:schemeClr>
              </a:solidFill>
            </a:endParaRPr>
          </a:p>
          <a:p>
            <a:pPr algn="ctr">
              <a:defRPr sz="1200">
                <a:solidFill>
                  <a:srgbClr val="888888"/>
                </a:solidFill>
              </a:defRPr>
            </a:pPr>
            <a:r>
              <a:rPr dirty="0" err="1"/>
              <a:t>실시간</a:t>
            </a:r>
            <a:r>
              <a:rPr dirty="0"/>
              <a:t> </a:t>
            </a:r>
            <a:r>
              <a:rPr dirty="0" err="1"/>
              <a:t>제어</a:t>
            </a:r>
            <a:endParaRPr dirty="0"/>
          </a:p>
        </p:txBody>
      </p:sp>
      <p:cxnSp>
        <p:nvCxnSpPr>
          <p:cNvPr id="8" name="Connector 7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6492240"/>
            <a:ext cx="233589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</a:defRPr>
            </a:pPr>
            <a:r>
              <a:rPr lang="ko-KR" altLang="en-US" dirty="0"/>
              <a:t>글로벌시스템융합과 </a:t>
            </a:r>
            <a:r>
              <a:rPr dirty="0"/>
              <a:t>		3 / 10</a:t>
            </a:r>
          </a:p>
        </p:txBody>
      </p:sp>
      <p:cxnSp>
        <p:nvCxnSpPr>
          <p:cNvPr id="10" name="Connector 5">
            <a:extLst>
              <a:ext uri="{FF2B5EF4-FFF2-40B4-BE49-F238E27FC236}">
                <a16:creationId xmlns:a16="http://schemas.microsoft.com/office/drawing/2014/main" id="{B9680A0E-ACF2-439D-BC0A-9D77F2CAA7BD}"/>
              </a:ext>
            </a:extLst>
          </p:cNvPr>
          <p:cNvCxnSpPr/>
          <p:nvPr/>
        </p:nvCxnSpPr>
        <p:spPr>
          <a:xfrm>
            <a:off x="457200" y="827425"/>
            <a:ext cx="11274552" cy="0"/>
          </a:xfrm>
          <a:prstGeom prst="line">
            <a:avLst/>
          </a:prstGeom>
          <a:ln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차트 17">
            <a:extLst>
              <a:ext uri="{FF2B5EF4-FFF2-40B4-BE49-F238E27FC236}">
                <a16:creationId xmlns:a16="http://schemas.microsoft.com/office/drawing/2014/main" id="{795EB13C-5B98-4992-8AAB-BE81D609A5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99149033"/>
              </p:ext>
            </p:extLst>
          </p:nvPr>
        </p:nvGraphicFramePr>
        <p:xfrm>
          <a:off x="540042" y="3816228"/>
          <a:ext cx="11651958" cy="10798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C9B7C1EF-D4BD-4F8D-B597-9187EE87DC30}"/>
              </a:ext>
            </a:extLst>
          </p:cNvPr>
          <p:cNvSpPr txBox="1"/>
          <p:nvPr/>
        </p:nvSpPr>
        <p:spPr>
          <a:xfrm>
            <a:off x="457200" y="3652936"/>
            <a:ext cx="34826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60A5FA"/>
                </a:solidFill>
              </a:rPr>
              <a:t>📊 데이터셋 분할 비율 </a:t>
            </a:r>
            <a:r>
              <a:rPr lang="en-US" altLang="ko-KR" b="1" dirty="0">
                <a:solidFill>
                  <a:srgbClr val="60A5FA"/>
                </a:solidFill>
              </a:rPr>
              <a:t>(7 : 2 : 1)</a:t>
            </a:r>
          </a:p>
          <a:p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89E6AA8-B7FF-4B13-8538-2805292BC347}"/>
              </a:ext>
            </a:extLst>
          </p:cNvPr>
          <p:cNvSpPr txBox="1"/>
          <p:nvPr/>
        </p:nvSpPr>
        <p:spPr>
          <a:xfrm>
            <a:off x="540043" y="4987495"/>
            <a:ext cx="3399779" cy="1061829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맑은 고딕"/>
              </a:defRPr>
            </a:pPr>
            <a:r>
              <a:rPr lang="en-US" altLang="ko-KR" sz="1200" dirty="0"/>
              <a:t>• Train (70%): </a:t>
            </a:r>
            <a:r>
              <a:rPr lang="ko-KR" altLang="en-US" sz="1200" dirty="0"/>
              <a:t>모델 학습용</a:t>
            </a:r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맑은 고딕"/>
              </a:defRPr>
            </a:pPr>
            <a:r>
              <a:rPr lang="en-US" altLang="ko-KR" sz="1200" dirty="0"/>
              <a:t>• Val (20%): </a:t>
            </a:r>
            <a:r>
              <a:rPr lang="ko-KR" altLang="en-US" sz="1200" dirty="0" err="1"/>
              <a:t>과적합</a:t>
            </a:r>
            <a:r>
              <a:rPr lang="ko-KR" altLang="en-US" sz="1200" dirty="0"/>
              <a:t> 방지 및 최적 모델 저장</a:t>
            </a:r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맑은 고딕"/>
              </a:defRPr>
            </a:pPr>
            <a:r>
              <a:rPr lang="en-US" altLang="ko-KR" sz="1200" dirty="0"/>
              <a:t>• Test (10%): </a:t>
            </a:r>
            <a:r>
              <a:rPr lang="ko-KR" altLang="en-US" sz="1200" dirty="0"/>
              <a:t>객관적 성능 평가용 </a:t>
            </a:r>
            <a:r>
              <a:rPr lang="en-US" altLang="ko-KR" sz="1200" dirty="0"/>
              <a:t>(</a:t>
            </a:r>
            <a:r>
              <a:rPr lang="ko-KR" altLang="en-US" sz="1200" dirty="0"/>
              <a:t>학습 </a:t>
            </a:r>
            <a:r>
              <a:rPr lang="ko-KR" altLang="en-US" sz="1200" dirty="0" err="1"/>
              <a:t>미참여</a:t>
            </a:r>
            <a:r>
              <a:rPr lang="en-US" altLang="ko-KR" sz="1200" dirty="0"/>
              <a:t>)</a:t>
            </a:r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맑은 고딕"/>
              </a:defRPr>
            </a:pPr>
            <a:endParaRPr lang="en-US" altLang="ko-KR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12FB691-FBB7-42AC-92FF-1BD874CDB81D}"/>
              </a:ext>
            </a:extLst>
          </p:cNvPr>
          <p:cNvSpPr txBox="1"/>
          <p:nvPr/>
        </p:nvSpPr>
        <p:spPr>
          <a:xfrm>
            <a:off x="4468012" y="4987495"/>
            <a:ext cx="3399779" cy="1092607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맑은 고딕"/>
              </a:defRPr>
            </a:pPr>
            <a:r>
              <a:rPr lang="ko-KR" altLang="en-US" sz="1200" b="1" dirty="0">
                <a:solidFill>
                  <a:srgbClr val="39CD05"/>
                </a:solidFill>
              </a:rPr>
              <a:t>이 비율을 선택한 이유</a:t>
            </a:r>
            <a:r>
              <a:rPr lang="en-US" altLang="ko-KR" sz="1200" b="1" dirty="0">
                <a:solidFill>
                  <a:srgbClr val="39CD05"/>
                </a:solidFill>
              </a:rPr>
              <a:t>:</a:t>
            </a:r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맑은 고딕"/>
              </a:defRPr>
            </a:pPr>
            <a:r>
              <a:rPr lang="ko-KR" altLang="en-US" sz="1200" dirty="0"/>
              <a:t>데이터가 제한적인 상황에서 모델이 학습 데이터에만 과하게 적응하는 과적합을 방지하고</a:t>
            </a:r>
            <a:r>
              <a:rPr lang="en-US" altLang="ko-KR" sz="1200" dirty="0"/>
              <a:t>, </a:t>
            </a:r>
            <a:r>
              <a:rPr lang="ko-KR" altLang="en-US" sz="1200" dirty="0"/>
              <a:t>검증을 통해 최적의 모델을 저장하기 위함</a:t>
            </a:r>
            <a:endParaRPr lang="en-US" altLang="ko-KR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1D06379-A9F0-4377-BDA2-269DFE439734}"/>
              </a:ext>
            </a:extLst>
          </p:cNvPr>
          <p:cNvSpPr txBox="1"/>
          <p:nvPr/>
        </p:nvSpPr>
        <p:spPr>
          <a:xfrm>
            <a:off x="8395981" y="4987495"/>
            <a:ext cx="3399779" cy="1169551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맑은 고딕"/>
              </a:defRPr>
            </a:pPr>
            <a:r>
              <a:rPr lang="ko-KR" alt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학습 효과</a:t>
            </a:r>
            <a:r>
              <a:rPr lang="en-US" altLang="ko-KR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</a:t>
            </a:r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맑은 고딕"/>
              </a:defRPr>
            </a:pPr>
            <a:r>
              <a:rPr lang="en-US" altLang="ko-KR" sz="1200" dirty="0"/>
              <a:t>Test(10%)</a:t>
            </a:r>
            <a:r>
              <a:rPr lang="ko-KR" altLang="en-US" sz="1200" dirty="0"/>
              <a:t>은</a:t>
            </a:r>
            <a:r>
              <a:rPr lang="en-US" altLang="ko-KR" sz="1200" dirty="0"/>
              <a:t> </a:t>
            </a:r>
            <a:r>
              <a:rPr lang="ko-KR" altLang="en-US" sz="1200" dirty="0"/>
              <a:t>학습에 전혀 관여하지 않아</a:t>
            </a:r>
            <a:r>
              <a:rPr lang="en-US" altLang="ko-KR" sz="1200" dirty="0"/>
              <a:t>, </a:t>
            </a:r>
            <a:r>
              <a:rPr lang="ko-KR" altLang="en-US" sz="1200" dirty="0"/>
              <a:t>실제 주행 시 예상되는 </a:t>
            </a:r>
            <a:r>
              <a:rPr lang="ko-KR" altLang="en-US" sz="1200" dirty="0" err="1"/>
              <a:t>객곽전인</a:t>
            </a:r>
            <a:r>
              <a:rPr lang="ko-KR" altLang="en-US" sz="1200" dirty="0"/>
              <a:t> 성능 평가가 가능함</a:t>
            </a:r>
            <a:endParaRPr lang="en-US" altLang="ko-KR" sz="1200" dirty="0"/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맑은 고딕"/>
              </a:defRPr>
            </a:pPr>
            <a:endParaRPr lang="en-US" altLang="ko-KR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426430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rPr sz="2400" dirty="0">
                <a:solidFill>
                  <a:schemeClr val="bg1">
                    <a:lumMod val="75000"/>
                  </a:schemeClr>
                </a:solidFill>
              </a:rPr>
              <a:t>3. </a:t>
            </a:r>
            <a:r>
              <a:rPr sz="2400" dirty="0" err="1">
                <a:solidFill>
                  <a:schemeClr val="bg1">
                    <a:lumMod val="75000"/>
                  </a:schemeClr>
                </a:solidFill>
              </a:rPr>
              <a:t>학습</a:t>
            </a:r>
            <a:r>
              <a:rPr sz="24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sz="2400" dirty="0" err="1">
                <a:solidFill>
                  <a:schemeClr val="bg1">
                    <a:lumMod val="75000"/>
                  </a:schemeClr>
                </a:solidFill>
              </a:rPr>
              <a:t>파라미터</a:t>
            </a:r>
            <a:r>
              <a:rPr sz="24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sz="2400" dirty="0" err="1">
                <a:solidFill>
                  <a:schemeClr val="bg1">
                    <a:lumMod val="75000"/>
                  </a:schemeClr>
                </a:solidFill>
              </a:rPr>
              <a:t>최적화</a:t>
            </a:r>
            <a:r>
              <a:rPr sz="24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sz="2400" dirty="0" err="1">
                <a:solidFill>
                  <a:schemeClr val="bg1">
                    <a:lumMod val="75000"/>
                  </a:schemeClr>
                </a:solidFill>
              </a:rPr>
              <a:t>전략</a:t>
            </a:r>
            <a:endParaRPr sz="24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942392" y="1987420"/>
            <a:ext cx="3779118" cy="3256383"/>
          </a:xfrm>
          <a:prstGeom prst="roundRect">
            <a:avLst/>
          </a:prstGeom>
          <a:solidFill>
            <a:srgbClr val="2A2A2A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rIns="182880" rtlCol="0" anchor="ctr"/>
          <a:lstStyle/>
          <a:p>
            <a:pPr>
              <a:spcAft>
                <a:spcPts val="1200"/>
              </a:spcAft>
              <a:defRPr sz="1800" b="1">
                <a:solidFill>
                  <a:srgbClr val="60A5FA"/>
                </a:solidFill>
                <a:latin typeface="맑은 고딕"/>
              </a:defRPr>
            </a:pPr>
            <a:r>
              <a:rPr sz="1400" dirty="0">
                <a:solidFill>
                  <a:schemeClr val="bg1">
                    <a:lumMod val="50000"/>
                  </a:schemeClr>
                </a:solidFill>
              </a:rPr>
              <a:t>⚠️ </a:t>
            </a:r>
            <a:r>
              <a:rPr sz="1400" dirty="0" err="1">
                <a:solidFill>
                  <a:schemeClr val="bg1">
                    <a:lumMod val="50000"/>
                  </a:schemeClr>
                </a:solidFill>
              </a:rPr>
              <a:t>기존</a:t>
            </a:r>
            <a:r>
              <a:rPr sz="14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sz="1400" dirty="0" err="1">
                <a:solidFill>
                  <a:schemeClr val="bg1">
                    <a:lumMod val="50000"/>
                  </a:schemeClr>
                </a:solidFill>
              </a:rPr>
              <a:t>코드</a:t>
            </a:r>
            <a:r>
              <a:rPr sz="1400" dirty="0">
                <a:solidFill>
                  <a:schemeClr val="bg1">
                    <a:lumMod val="50000"/>
                  </a:schemeClr>
                </a:solidFill>
              </a:rPr>
              <a:t> (Default)</a:t>
            </a:r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맑은 고딕"/>
              </a:defRPr>
            </a:pPr>
            <a:r>
              <a:rPr sz="3200" b="1" dirty="0">
                <a:solidFill>
                  <a:schemeClr val="bg1">
                    <a:lumMod val="75000"/>
                  </a:schemeClr>
                </a:solidFill>
              </a:rPr>
              <a:t>Epochs = 20</a:t>
            </a:r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맑은 고딕"/>
              </a:defRPr>
            </a:pP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제공된 기본 </a:t>
            </a:r>
            <a:r>
              <a:rPr lang="ko-KR" altLang="en-US" sz="1000" dirty="0" err="1">
                <a:solidFill>
                  <a:schemeClr val="bg1">
                    <a:lumMod val="50000"/>
                  </a:schemeClr>
                </a:solidFill>
              </a:rPr>
              <a:t>설정값</a:t>
            </a:r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맑은 고딕"/>
              </a:defRPr>
            </a:pPr>
            <a:endParaRPr lang="en-US" altLang="ko-KR" sz="900" dirty="0"/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맑은 고딕"/>
              </a:defRPr>
            </a:pPr>
            <a:endParaRPr sz="900" dirty="0"/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맑은 고딕"/>
              </a:defRPr>
            </a:pPr>
            <a:r>
              <a:rPr lang="ko-KR" altLang="en-US" sz="1400" b="1" dirty="0">
                <a:solidFill>
                  <a:srgbClr val="FFFF00"/>
                </a:solidFill>
              </a:rPr>
              <a:t>⚠️</a:t>
            </a:r>
            <a:r>
              <a:rPr lang="ko-KR" altLang="en-US" sz="1400" b="1" dirty="0"/>
              <a:t> </a:t>
            </a:r>
            <a:r>
              <a:rPr lang="ko-KR" altLang="en-US" sz="1400" b="1" dirty="0">
                <a:solidFill>
                  <a:schemeClr val="accent2"/>
                </a:solidFill>
              </a:rPr>
              <a:t>우려되는 점 </a:t>
            </a:r>
            <a:r>
              <a:rPr lang="en-US" altLang="ko-KR" sz="1400" b="1" dirty="0">
                <a:solidFill>
                  <a:schemeClr val="accent2"/>
                </a:solidFill>
              </a:rPr>
              <a:t>(</a:t>
            </a:r>
            <a:r>
              <a:rPr lang="ko-KR" altLang="en-US" sz="1400" b="1" dirty="0">
                <a:solidFill>
                  <a:schemeClr val="accent2"/>
                </a:solidFill>
              </a:rPr>
              <a:t>한계</a:t>
            </a:r>
            <a:r>
              <a:rPr lang="en-US" altLang="ko-KR" sz="1400" b="1" dirty="0">
                <a:solidFill>
                  <a:schemeClr val="accent2"/>
                </a:solidFill>
              </a:rPr>
              <a:t>)</a:t>
            </a:r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맑은 고딕"/>
              </a:defRPr>
            </a:pP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학습 횟수가 부족하여 모델이 데이터의 특징을 충분히 배우지 못하는 </a:t>
            </a:r>
            <a:r>
              <a:rPr lang="ko-KR" altLang="en-US" sz="1200" b="1" dirty="0">
                <a:solidFill>
                  <a:schemeClr val="bg1">
                    <a:lumMod val="50000"/>
                  </a:schemeClr>
                </a:solidFill>
              </a:rPr>
              <a:t>과소적합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 발생 가능성 있음</a:t>
            </a:r>
            <a:endParaRPr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241115" y="32004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>
                <a:solidFill>
                  <a:srgbClr val="888888"/>
                </a:solidFill>
              </a:defRPr>
            </a:pPr>
            <a:r>
              <a:rPr dirty="0"/>
              <a:t>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1371599"/>
            <a:ext cx="5029200" cy="4571989"/>
          </a:xfrm>
          <a:prstGeom prst="roundRect">
            <a:avLst/>
          </a:prstGeom>
          <a:solidFill>
            <a:srgbClr val="2A2A2A"/>
          </a:solidFill>
          <a:ln w="254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rIns="182880" rtlCol="0" anchor="ctr"/>
          <a:lstStyle/>
          <a:p>
            <a:pPr>
              <a:spcAft>
                <a:spcPts val="1200"/>
              </a:spcAft>
              <a:defRPr sz="1800" b="1">
                <a:solidFill>
                  <a:srgbClr val="60A5FA"/>
                </a:solidFill>
                <a:latin typeface="맑은 고딕"/>
              </a:defRPr>
            </a:pPr>
            <a:r>
              <a:rPr dirty="0"/>
              <a:t>🚀 </a:t>
            </a:r>
            <a:r>
              <a:rPr dirty="0" err="1"/>
              <a:t>개선</a:t>
            </a:r>
            <a:r>
              <a:rPr dirty="0"/>
              <a:t> </a:t>
            </a:r>
            <a:r>
              <a:rPr dirty="0" err="1"/>
              <a:t>시도</a:t>
            </a:r>
            <a:r>
              <a:rPr dirty="0"/>
              <a:t> (Improved)</a:t>
            </a:r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맑은 고딕"/>
              </a:defRPr>
            </a:pPr>
            <a:r>
              <a:rPr sz="2400" b="1" dirty="0"/>
              <a:t>Epochs = 50 </a:t>
            </a:r>
            <a:endParaRPr lang="en-US" altLang="ko-KR" sz="2400" b="1" dirty="0"/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맑은 고딕"/>
              </a:defRPr>
            </a:pPr>
            <a:r>
              <a:rPr sz="2400" b="1" dirty="0"/>
              <a:t>+ Early Stopping</a:t>
            </a:r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맑은 고딕"/>
              </a:defRPr>
            </a:pP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</a:rPr>
              <a:t>학습량 증대 및 안전장치 추가</a:t>
            </a:r>
            <a:endParaRPr lang="en-US" altLang="ko-KR" sz="1000" dirty="0">
              <a:solidFill>
                <a:schemeClr val="bg1">
                  <a:lumMod val="75000"/>
                </a:schemeClr>
              </a:solidFill>
            </a:endParaRPr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맑은 고딕"/>
              </a:defRPr>
            </a:pPr>
            <a:endParaRPr lang="en-US" altLang="ko-KR" sz="1000" dirty="0">
              <a:solidFill>
                <a:schemeClr val="bg1">
                  <a:lumMod val="75000"/>
                </a:schemeClr>
              </a:solidFill>
            </a:endParaRPr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맑은 고딕"/>
              </a:defRPr>
            </a:pPr>
            <a:r>
              <a:rPr lang="ko-KR" altLang="en-US" sz="1400" b="1" dirty="0">
                <a:solidFill>
                  <a:srgbClr val="92D050"/>
                </a:solidFill>
              </a:rPr>
              <a:t>✅</a:t>
            </a:r>
            <a:r>
              <a:rPr lang="ko-KR" altLang="en-US" sz="1400" b="1" dirty="0"/>
              <a:t> </a:t>
            </a:r>
            <a:r>
              <a:rPr lang="en-US" altLang="ko-KR" sz="1400" b="1" dirty="0">
                <a:solidFill>
                  <a:srgbClr val="0070C0"/>
                </a:solidFill>
              </a:rPr>
              <a:t>Epoch </a:t>
            </a:r>
            <a:r>
              <a:rPr lang="ko-KR" altLang="en-US" sz="1400" b="1" dirty="0">
                <a:solidFill>
                  <a:srgbClr val="0070C0"/>
                </a:solidFill>
              </a:rPr>
              <a:t>증가 이유 </a:t>
            </a:r>
            <a:r>
              <a:rPr lang="en-US" altLang="ko-KR" sz="1400" b="1" dirty="0">
                <a:solidFill>
                  <a:srgbClr val="0070C0"/>
                </a:solidFill>
              </a:rPr>
              <a:t>(</a:t>
            </a:r>
            <a:r>
              <a:rPr lang="ko-KR" altLang="en-US" sz="1400" b="1" dirty="0">
                <a:solidFill>
                  <a:srgbClr val="0070C0"/>
                </a:solidFill>
              </a:rPr>
              <a:t>장점</a:t>
            </a:r>
            <a:r>
              <a:rPr lang="en-US" altLang="ko-KR" sz="1400" b="1" dirty="0">
                <a:solidFill>
                  <a:srgbClr val="0070C0"/>
                </a:solidFill>
              </a:rPr>
              <a:t>)</a:t>
            </a:r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맑은 고딕"/>
              </a:defRPr>
            </a:pPr>
            <a:r>
              <a:rPr lang="ko-KR" altLang="en-US" sz="1200" b="1" dirty="0">
                <a:solidFill>
                  <a:schemeClr val="bg1">
                    <a:lumMod val="85000"/>
                  </a:schemeClr>
                </a:solidFill>
              </a:rPr>
              <a:t>충분한 학습 시간을 부여하는 </a:t>
            </a:r>
            <a:r>
              <a:rPr lang="en-US" altLang="ko-KR" sz="1200" b="1" dirty="0">
                <a:solidFill>
                  <a:schemeClr val="bg1">
                    <a:lumMod val="85000"/>
                  </a:schemeClr>
                </a:solidFill>
              </a:rPr>
              <a:t>Loss </a:t>
            </a:r>
            <a:r>
              <a:rPr lang="ko-KR" altLang="en-US" sz="1200" b="1" dirty="0">
                <a:solidFill>
                  <a:schemeClr val="bg1">
                    <a:lumMod val="85000"/>
                  </a:schemeClr>
                </a:solidFill>
              </a:rPr>
              <a:t>값을</a:t>
            </a:r>
            <a:r>
              <a:rPr lang="en-US" altLang="ko-KR" sz="1200" b="1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ko-KR" altLang="en-US" sz="1200" b="1" dirty="0">
                <a:solidFill>
                  <a:schemeClr val="bg1">
                    <a:lumMod val="85000"/>
                  </a:schemeClr>
                </a:solidFill>
              </a:rPr>
              <a:t>최소화하고</a:t>
            </a:r>
            <a:endParaRPr lang="en-US" altLang="ko-KR" sz="1200" b="1" dirty="0">
              <a:solidFill>
                <a:schemeClr val="bg1">
                  <a:lumMod val="85000"/>
                </a:schemeClr>
              </a:solidFill>
            </a:endParaRPr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맑은 고딕"/>
              </a:defRPr>
            </a:pPr>
            <a:r>
              <a:rPr lang="ko-KR" altLang="en-US" sz="1200" b="1" dirty="0">
                <a:solidFill>
                  <a:schemeClr val="bg1">
                    <a:lumMod val="85000"/>
                  </a:schemeClr>
                </a:solidFill>
              </a:rPr>
              <a:t>모델의 정확도를 극한으로 끌어올림</a:t>
            </a:r>
            <a:endParaRPr lang="en-US" altLang="ko-KR" sz="1200" b="1" dirty="0">
              <a:solidFill>
                <a:schemeClr val="bg1">
                  <a:lumMod val="85000"/>
                </a:schemeClr>
              </a:solidFill>
            </a:endParaRPr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맑은 고딕"/>
              </a:defRPr>
            </a:pPr>
            <a:endParaRPr lang="en-US" altLang="ko-KR" sz="1400" b="1" dirty="0"/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맑은 고딕"/>
              </a:defRPr>
            </a:pPr>
            <a:r>
              <a:rPr lang="ko-KR" altLang="en-US" sz="1400" b="1" dirty="0">
                <a:solidFill>
                  <a:srgbClr val="0070C0"/>
                </a:solidFill>
              </a:rPr>
              <a:t>🛡️</a:t>
            </a:r>
            <a:r>
              <a:rPr lang="ko-KR" altLang="en-US" sz="1400" b="1" dirty="0"/>
              <a:t> </a:t>
            </a:r>
            <a:r>
              <a:rPr lang="en-US" altLang="ko-KR" sz="1400" b="1" dirty="0">
                <a:solidFill>
                  <a:srgbClr val="00B050"/>
                </a:solidFill>
              </a:rPr>
              <a:t>Early Stopping </a:t>
            </a:r>
            <a:r>
              <a:rPr lang="ko-KR" altLang="en-US" sz="1400" b="1" dirty="0">
                <a:solidFill>
                  <a:srgbClr val="00B050"/>
                </a:solidFill>
              </a:rPr>
              <a:t>도입 이유</a:t>
            </a:r>
            <a:endParaRPr lang="en-US" altLang="ko-KR" sz="1400" b="1" dirty="0">
              <a:solidFill>
                <a:srgbClr val="00B050"/>
              </a:solidFill>
            </a:endParaRPr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맑은 고딕"/>
              </a:defRPr>
            </a:pPr>
            <a:r>
              <a:rPr lang="en-US" altLang="ko-KR" sz="1200" b="1" dirty="0">
                <a:solidFill>
                  <a:schemeClr val="bg1">
                    <a:lumMod val="85000"/>
                  </a:schemeClr>
                </a:solidFill>
              </a:rPr>
              <a:t>Epoch </a:t>
            </a:r>
            <a:r>
              <a:rPr lang="ko-KR" altLang="en-US" sz="1200" b="1" dirty="0">
                <a:solidFill>
                  <a:schemeClr val="bg1">
                    <a:lumMod val="85000"/>
                  </a:schemeClr>
                </a:solidFill>
              </a:rPr>
              <a:t>증가로 인한 과적함 부작용을 방지</a:t>
            </a:r>
            <a:r>
              <a:rPr lang="en-US" altLang="ko-KR" sz="1200" b="1" dirty="0">
                <a:solidFill>
                  <a:schemeClr val="bg1">
                    <a:lumMod val="85000"/>
                  </a:schemeClr>
                </a:solidFill>
              </a:rPr>
              <a:t>. Validation Loss</a:t>
            </a:r>
            <a:r>
              <a:rPr lang="ko-KR" altLang="en-US" sz="1200" b="1" dirty="0">
                <a:solidFill>
                  <a:schemeClr val="bg1">
                    <a:lumMod val="85000"/>
                  </a:schemeClr>
                </a:solidFill>
              </a:rPr>
              <a:t>가 더 이상 개선되지 않으면 학습을 조기 종료하여 최적의 모델 보존</a:t>
            </a:r>
            <a:endParaRPr lang="en-US" altLang="ko-KR" sz="1200" b="1" dirty="0">
              <a:solidFill>
                <a:schemeClr val="bg1">
                  <a:lumMod val="85000"/>
                </a:schemeClr>
              </a:solidFill>
            </a:endParaRPr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맑은 고딕"/>
              </a:defRPr>
            </a:pPr>
            <a:endParaRPr lang="en-US" altLang="ko-KR" dirty="0"/>
          </a:p>
        </p:txBody>
      </p:sp>
      <p:cxnSp>
        <p:nvCxnSpPr>
          <p:cNvPr id="7" name="Connector 6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6492240"/>
            <a:ext cx="233589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</a:defRPr>
            </a:pPr>
            <a:r>
              <a:rPr lang="ko-KR" altLang="en-US" dirty="0"/>
              <a:t>글로벌시스템융합과 </a:t>
            </a:r>
            <a:r>
              <a:rPr dirty="0"/>
              <a:t>		4 / 10</a:t>
            </a:r>
          </a:p>
        </p:txBody>
      </p:sp>
      <p:cxnSp>
        <p:nvCxnSpPr>
          <p:cNvPr id="9" name="Connector 5">
            <a:extLst>
              <a:ext uri="{FF2B5EF4-FFF2-40B4-BE49-F238E27FC236}">
                <a16:creationId xmlns:a16="http://schemas.microsoft.com/office/drawing/2014/main" id="{FAA66405-047C-44D5-933F-C25F355C1BE8}"/>
              </a:ext>
            </a:extLst>
          </p:cNvPr>
          <p:cNvCxnSpPr/>
          <p:nvPr/>
        </p:nvCxnSpPr>
        <p:spPr>
          <a:xfrm>
            <a:off x="457200" y="827425"/>
            <a:ext cx="11274552" cy="0"/>
          </a:xfrm>
          <a:prstGeom prst="line">
            <a:avLst/>
          </a:prstGeom>
          <a:ln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101AD8FE-5310-4BA3-8FBE-B315B3EF19B3}"/>
              </a:ext>
            </a:extLst>
          </p:cNvPr>
          <p:cNvCxnSpPr>
            <a:cxnSpLocks/>
          </p:cNvCxnSpPr>
          <p:nvPr/>
        </p:nvCxnSpPr>
        <p:spPr>
          <a:xfrm>
            <a:off x="1250302" y="3825551"/>
            <a:ext cx="3256384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08623A09-43A0-4ABD-91C2-4FA44C31DF87}"/>
              </a:ext>
            </a:extLst>
          </p:cNvPr>
          <p:cNvCxnSpPr>
            <a:cxnSpLocks/>
          </p:cNvCxnSpPr>
          <p:nvPr/>
        </p:nvCxnSpPr>
        <p:spPr>
          <a:xfrm>
            <a:off x="7063274" y="3307703"/>
            <a:ext cx="431074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535595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rPr sz="2400" dirty="0">
                <a:solidFill>
                  <a:schemeClr val="bg1">
                    <a:lumMod val="75000"/>
                  </a:schemeClr>
                </a:solidFill>
              </a:rPr>
              <a:t>4. </a:t>
            </a:r>
            <a:r>
              <a:rPr sz="2400" dirty="0" err="1">
                <a:solidFill>
                  <a:schemeClr val="bg1">
                    <a:lumMod val="75000"/>
                  </a:schemeClr>
                </a:solidFill>
              </a:rPr>
              <a:t>학습</a:t>
            </a:r>
            <a:r>
              <a:rPr sz="2400" dirty="0">
                <a:solidFill>
                  <a:schemeClr val="bg1">
                    <a:lumMod val="75000"/>
                  </a:schemeClr>
                </a:solidFill>
              </a:rPr>
              <a:t> 1회차 : </a:t>
            </a:r>
            <a:r>
              <a:rPr sz="2400" dirty="0" err="1">
                <a:solidFill>
                  <a:schemeClr val="bg1">
                    <a:lumMod val="75000"/>
                  </a:schemeClr>
                </a:solidFill>
              </a:rPr>
              <a:t>데이터</a:t>
            </a:r>
            <a:r>
              <a:rPr sz="24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sz="2400" dirty="0" err="1">
                <a:solidFill>
                  <a:schemeClr val="bg1">
                    <a:lumMod val="75000"/>
                  </a:schemeClr>
                </a:solidFill>
              </a:rPr>
              <a:t>불균형의</a:t>
            </a:r>
            <a:r>
              <a:rPr sz="24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sz="2400" dirty="0" err="1">
                <a:solidFill>
                  <a:schemeClr val="bg1">
                    <a:lumMod val="75000"/>
                  </a:schemeClr>
                </a:solidFill>
              </a:rPr>
              <a:t>문제</a:t>
            </a:r>
            <a:endParaRPr sz="24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57200" y="1115208"/>
            <a:ext cx="3657600" cy="4828390"/>
          </a:xfrm>
          <a:prstGeom prst="roundRect">
            <a:avLst/>
          </a:prstGeom>
          <a:solidFill>
            <a:srgbClr val="2A2A2A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rIns="182880" rtlCol="0" anchor="ctr"/>
          <a:lstStyle/>
          <a:p>
            <a:pPr algn="ctr">
              <a:spcAft>
                <a:spcPts val="1200"/>
              </a:spcAft>
              <a:defRPr sz="1800" b="1">
                <a:solidFill>
                  <a:srgbClr val="60A5FA"/>
                </a:solidFill>
                <a:latin typeface="맑은 고딕"/>
              </a:defRPr>
            </a:pP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4389120" y="1609535"/>
            <a:ext cx="7315200" cy="3638929"/>
          </a:xfrm>
          <a:prstGeom prst="roundRect">
            <a:avLst/>
          </a:prstGeom>
          <a:solidFill>
            <a:srgbClr val="2A2A2A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rIns="182880" rtlCol="0" anchor="ctr"/>
          <a:lstStyle/>
          <a:p>
            <a:pPr algn="ctr">
              <a:spcAft>
                <a:spcPts val="1200"/>
              </a:spcAft>
              <a:defRPr sz="1800" b="1">
                <a:solidFill>
                  <a:srgbClr val="60A5FA"/>
                </a:solidFill>
                <a:latin typeface="맑은 고딕"/>
              </a:defRPr>
            </a:pPr>
            <a:endParaRPr dirty="0"/>
          </a:p>
        </p:txBody>
      </p:sp>
      <p:cxnSp>
        <p:nvCxnSpPr>
          <p:cNvPr id="6" name="Connector 5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492240"/>
            <a:ext cx="233589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</a:defRPr>
            </a:pPr>
            <a:r>
              <a:rPr lang="ko-KR" altLang="en-US" dirty="0"/>
              <a:t>글로벌시스템융합과 </a:t>
            </a:r>
            <a:r>
              <a:rPr dirty="0"/>
              <a:t>		5 / 10</a:t>
            </a:r>
          </a:p>
        </p:txBody>
      </p:sp>
      <p:cxnSp>
        <p:nvCxnSpPr>
          <p:cNvPr id="8" name="Connector 5">
            <a:extLst>
              <a:ext uri="{FF2B5EF4-FFF2-40B4-BE49-F238E27FC236}">
                <a16:creationId xmlns:a16="http://schemas.microsoft.com/office/drawing/2014/main" id="{F58BB398-3681-43CD-8FE1-1860D7136219}"/>
              </a:ext>
            </a:extLst>
          </p:cNvPr>
          <p:cNvCxnSpPr/>
          <p:nvPr/>
        </p:nvCxnSpPr>
        <p:spPr>
          <a:xfrm>
            <a:off x="457200" y="827425"/>
            <a:ext cx="11274552" cy="0"/>
          </a:xfrm>
          <a:prstGeom prst="line">
            <a:avLst/>
          </a:prstGeom>
          <a:ln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58733B11-175C-4156-995E-6AFBB3C1DF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9424110"/>
              </p:ext>
            </p:extLst>
          </p:nvPr>
        </p:nvGraphicFramePr>
        <p:xfrm>
          <a:off x="1125687" y="1215390"/>
          <a:ext cx="2149358" cy="3851129"/>
        </p:xfrm>
        <a:graphic>
          <a:graphicData uri="http://schemas.openxmlformats.org/drawingml/2006/table">
            <a:tbl>
              <a:tblPr/>
              <a:tblGrid>
                <a:gridCol w="1076337">
                  <a:extLst>
                    <a:ext uri="{9D8B030D-6E8A-4147-A177-3AD203B41FA5}">
                      <a16:colId xmlns:a16="http://schemas.microsoft.com/office/drawing/2014/main" val="1898228887"/>
                    </a:ext>
                  </a:extLst>
                </a:gridCol>
                <a:gridCol w="1073021">
                  <a:extLst>
                    <a:ext uri="{9D8B030D-6E8A-4147-A177-3AD203B41FA5}">
                      <a16:colId xmlns:a16="http://schemas.microsoft.com/office/drawing/2014/main" val="3512604113"/>
                    </a:ext>
                  </a:extLst>
                </a:gridCol>
              </a:tblGrid>
              <a:tr h="64296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>
                          <a:solidFill>
                            <a:srgbClr val="FFFFFF"/>
                          </a:solidFill>
                          <a:effectLst/>
                        </a:rPr>
                        <a:t>각도 </a:t>
                      </a:r>
                      <a:r>
                        <a:rPr lang="en-US" altLang="ko-KR" sz="1200">
                          <a:solidFill>
                            <a:srgbClr val="FFFFFF"/>
                          </a:solidFill>
                          <a:effectLst/>
                        </a:rPr>
                        <a:t>(</a:t>
                      </a:r>
                      <a:r>
                        <a:rPr lang="en-US" sz="1200">
                          <a:solidFill>
                            <a:srgbClr val="FFFFFF"/>
                          </a:solidFill>
                          <a:effectLst/>
                        </a:rPr>
                        <a:t>Angle)</a:t>
                      </a: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>
                          <a:solidFill>
                            <a:srgbClr val="FFFFFF"/>
                          </a:solidFill>
                          <a:effectLst/>
                        </a:rPr>
                        <a:t>장수 </a:t>
                      </a:r>
                      <a:r>
                        <a:rPr lang="en-US" altLang="ko-KR" sz="1200" dirty="0">
                          <a:solidFill>
                            <a:srgbClr val="FFFFFF"/>
                          </a:solidFill>
                          <a:effectLst/>
                        </a:rPr>
                        <a:t>(</a:t>
                      </a:r>
                      <a:r>
                        <a:rPr lang="en-US" sz="1200" dirty="0">
                          <a:solidFill>
                            <a:srgbClr val="FFFFFF"/>
                          </a:solidFill>
                          <a:effectLst/>
                        </a:rPr>
                        <a:t>Count)</a:t>
                      </a: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7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1968073"/>
                  </a:ext>
                </a:extLst>
              </a:tr>
              <a:tr h="37119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CCCCCC"/>
                          </a:solidFill>
                          <a:effectLst/>
                        </a:rPr>
                        <a:t>10</a:t>
                      </a:r>
                      <a:r>
                        <a:rPr lang="ko-KR" altLang="en-US" sz="1200" dirty="0">
                          <a:solidFill>
                            <a:srgbClr val="CCCCCC"/>
                          </a:solidFill>
                          <a:effectLst/>
                        </a:rPr>
                        <a:t>도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solidFill>
                            <a:srgbClr val="CCCCCC"/>
                          </a:solidFill>
                          <a:effectLst/>
                        </a:rPr>
                        <a:t>3700</a:t>
                      </a:r>
                      <a:r>
                        <a:rPr lang="ko-KR" altLang="en-US" sz="1200">
                          <a:solidFill>
                            <a:srgbClr val="CCCCCC"/>
                          </a:solidFill>
                          <a:effectLst/>
                        </a:rPr>
                        <a:t>장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5388856"/>
                  </a:ext>
                </a:extLst>
              </a:tr>
              <a:tr h="37119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solidFill>
                            <a:srgbClr val="CCCCCC"/>
                          </a:solidFill>
                          <a:effectLst/>
                        </a:rPr>
                        <a:t>40</a:t>
                      </a:r>
                      <a:r>
                        <a:rPr lang="ko-KR" altLang="en-US" sz="1200">
                          <a:solidFill>
                            <a:srgbClr val="CCCCCC"/>
                          </a:solidFill>
                          <a:effectLst/>
                        </a:rPr>
                        <a:t>도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solidFill>
                            <a:srgbClr val="CCCCCC"/>
                          </a:solidFill>
                          <a:effectLst/>
                        </a:rPr>
                        <a:t>1561</a:t>
                      </a:r>
                      <a:r>
                        <a:rPr lang="ko-KR" altLang="en-US" sz="1200">
                          <a:solidFill>
                            <a:srgbClr val="CCCCCC"/>
                          </a:solidFill>
                          <a:effectLst/>
                        </a:rPr>
                        <a:t>장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5953035"/>
                  </a:ext>
                </a:extLst>
              </a:tr>
              <a:tr h="37119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solidFill>
                            <a:srgbClr val="CCCCCC"/>
                          </a:solidFill>
                          <a:effectLst/>
                        </a:rPr>
                        <a:t>70</a:t>
                      </a:r>
                      <a:r>
                        <a:rPr lang="ko-KR" altLang="en-US" sz="1200">
                          <a:solidFill>
                            <a:srgbClr val="CCCCCC"/>
                          </a:solidFill>
                          <a:effectLst/>
                        </a:rPr>
                        <a:t>도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solidFill>
                            <a:srgbClr val="CCCCCC"/>
                          </a:solidFill>
                          <a:effectLst/>
                        </a:rPr>
                        <a:t>3902</a:t>
                      </a:r>
                      <a:r>
                        <a:rPr lang="ko-KR" altLang="en-US" sz="1200">
                          <a:solidFill>
                            <a:srgbClr val="CCCCCC"/>
                          </a:solidFill>
                          <a:effectLst/>
                        </a:rPr>
                        <a:t>장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0092179"/>
                  </a:ext>
                </a:extLst>
              </a:tr>
              <a:tr h="37119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solidFill>
                            <a:srgbClr val="CCCCCC"/>
                          </a:solidFill>
                          <a:effectLst/>
                        </a:rPr>
                        <a:t>90</a:t>
                      </a:r>
                      <a:r>
                        <a:rPr lang="ko-KR" altLang="en-US" sz="1200">
                          <a:solidFill>
                            <a:srgbClr val="CCCCCC"/>
                          </a:solidFill>
                          <a:effectLst/>
                        </a:rPr>
                        <a:t>도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solidFill>
                            <a:srgbClr val="CCCCCC"/>
                          </a:solidFill>
                          <a:effectLst/>
                        </a:rPr>
                        <a:t>3204</a:t>
                      </a:r>
                      <a:r>
                        <a:rPr lang="ko-KR" altLang="en-US" sz="1200">
                          <a:solidFill>
                            <a:srgbClr val="CCCCCC"/>
                          </a:solidFill>
                          <a:effectLst/>
                        </a:rPr>
                        <a:t>장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772728"/>
                  </a:ext>
                </a:extLst>
              </a:tr>
              <a:tr h="37119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solidFill>
                            <a:srgbClr val="CCCCCC"/>
                          </a:solidFill>
                          <a:effectLst/>
                        </a:rPr>
                        <a:t>110</a:t>
                      </a:r>
                      <a:r>
                        <a:rPr lang="ko-KR" altLang="en-US" sz="1200">
                          <a:solidFill>
                            <a:srgbClr val="CCCCCC"/>
                          </a:solidFill>
                          <a:effectLst/>
                        </a:rPr>
                        <a:t>도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solidFill>
                            <a:srgbClr val="CCCCCC"/>
                          </a:solidFill>
                          <a:effectLst/>
                        </a:rPr>
                        <a:t>2124</a:t>
                      </a:r>
                      <a:r>
                        <a:rPr lang="ko-KR" altLang="en-US" sz="1200">
                          <a:solidFill>
                            <a:srgbClr val="CCCCCC"/>
                          </a:solidFill>
                          <a:effectLst/>
                        </a:rPr>
                        <a:t>장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5396609"/>
                  </a:ext>
                </a:extLst>
              </a:tr>
              <a:tr h="37119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solidFill>
                            <a:srgbClr val="CCCCCC"/>
                          </a:solidFill>
                          <a:effectLst/>
                        </a:rPr>
                        <a:t>140</a:t>
                      </a:r>
                      <a:r>
                        <a:rPr lang="ko-KR" altLang="en-US" sz="1200">
                          <a:solidFill>
                            <a:srgbClr val="CCCCCC"/>
                          </a:solidFill>
                          <a:effectLst/>
                        </a:rPr>
                        <a:t>도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solidFill>
                            <a:srgbClr val="CCCCCC"/>
                          </a:solidFill>
                          <a:effectLst/>
                        </a:rPr>
                        <a:t>437</a:t>
                      </a:r>
                      <a:r>
                        <a:rPr lang="ko-KR" altLang="en-US" sz="1200">
                          <a:solidFill>
                            <a:srgbClr val="CCCCCC"/>
                          </a:solidFill>
                          <a:effectLst/>
                        </a:rPr>
                        <a:t>장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4448477"/>
                  </a:ext>
                </a:extLst>
              </a:tr>
              <a:tr h="37119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solidFill>
                            <a:srgbClr val="CCCCCC"/>
                          </a:solidFill>
                          <a:effectLst/>
                        </a:rPr>
                        <a:t>170</a:t>
                      </a:r>
                      <a:r>
                        <a:rPr lang="ko-KR" altLang="en-US" sz="1200">
                          <a:solidFill>
                            <a:srgbClr val="CCCCCC"/>
                          </a:solidFill>
                          <a:effectLst/>
                        </a:rPr>
                        <a:t>도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solidFill>
                            <a:srgbClr val="CCCCCC"/>
                          </a:solidFill>
                          <a:effectLst/>
                        </a:rPr>
                        <a:t>25</a:t>
                      </a:r>
                      <a:r>
                        <a:rPr lang="ko-KR" altLang="en-US" sz="1200">
                          <a:solidFill>
                            <a:srgbClr val="CCCCCC"/>
                          </a:solidFill>
                          <a:effectLst/>
                        </a:rPr>
                        <a:t>장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7766649"/>
                  </a:ext>
                </a:extLst>
              </a:tr>
              <a:tr h="60981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>
                          <a:solidFill>
                            <a:srgbClr val="CCCCCC"/>
                          </a:solidFill>
                          <a:effectLst/>
                        </a:rPr>
                        <a:t>토탈 </a:t>
                      </a:r>
                      <a:r>
                        <a:rPr lang="en-US" altLang="ko-KR" sz="1200" b="1">
                          <a:solidFill>
                            <a:srgbClr val="CCCCCC"/>
                          </a:solidFill>
                          <a:effectLst/>
                        </a:rPr>
                        <a:t>(</a:t>
                      </a:r>
                      <a:r>
                        <a:rPr lang="en-US" sz="1200" b="1">
                          <a:solidFill>
                            <a:srgbClr val="CCCCCC"/>
                          </a:solidFill>
                          <a:effectLst/>
                        </a:rPr>
                        <a:t>Total)</a:t>
                      </a:r>
                      <a:endParaRPr lang="en-US" sz="1200">
                        <a:solidFill>
                          <a:srgbClr val="CCCCCC"/>
                        </a:solidFill>
                        <a:effectLst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>
                          <a:solidFill>
                            <a:srgbClr val="CCCCCC"/>
                          </a:solidFill>
                          <a:effectLst/>
                        </a:rPr>
                        <a:t>14953</a:t>
                      </a:r>
                      <a:r>
                        <a:rPr lang="ko-KR" altLang="en-US" sz="1200" b="1" dirty="0">
                          <a:solidFill>
                            <a:srgbClr val="CCCCCC"/>
                          </a:solidFill>
                          <a:effectLst/>
                        </a:rPr>
                        <a:t>장</a:t>
                      </a:r>
                      <a:endParaRPr lang="ko-KR" altLang="en-US" sz="1200" dirty="0">
                        <a:solidFill>
                          <a:srgbClr val="CCCCCC"/>
                        </a:solidFill>
                        <a:effectLst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869581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E241B758-65AD-415D-B63A-93257F057085}"/>
              </a:ext>
            </a:extLst>
          </p:cNvPr>
          <p:cNvSpPr txBox="1"/>
          <p:nvPr/>
        </p:nvSpPr>
        <p:spPr>
          <a:xfrm>
            <a:off x="4534678" y="1129004"/>
            <a:ext cx="3079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📉</a:t>
            </a:r>
            <a:r>
              <a:rPr lang="ko-KR" altLang="en-US" dirty="0">
                <a:solidFill>
                  <a:srgbClr val="4D7AB2"/>
                </a:solidFill>
              </a:rPr>
              <a:t> </a:t>
            </a:r>
            <a:r>
              <a:rPr lang="ko-KR" altLang="en-US" b="1" dirty="0">
                <a:solidFill>
                  <a:srgbClr val="4D7AB2"/>
                </a:solidFill>
              </a:rPr>
              <a:t>분석 결과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86FBD5-AE98-4339-A524-32B2EE8DAE6B}"/>
              </a:ext>
            </a:extLst>
          </p:cNvPr>
          <p:cNvSpPr txBox="1"/>
          <p:nvPr/>
        </p:nvSpPr>
        <p:spPr>
          <a:xfrm>
            <a:off x="1034039" y="5281127"/>
            <a:ext cx="25039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solidFill>
                  <a:srgbClr val="E8F945"/>
                </a:solidFill>
              </a:rPr>
              <a:t>분할 결과 </a:t>
            </a:r>
            <a:r>
              <a:rPr lang="en-US" altLang="ko-KR" sz="1200" b="1" dirty="0">
                <a:solidFill>
                  <a:srgbClr val="E8F945"/>
                </a:solidFill>
              </a:rPr>
              <a:t>(7:2:1)</a:t>
            </a:r>
            <a:br>
              <a:rPr lang="ko-KR" altLang="en-US" sz="1200" dirty="0"/>
            </a:br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</a:rPr>
              <a:t>Train: 10467 / Val: 2991 / Test: 1495</a:t>
            </a:r>
            <a:endParaRPr lang="ko-KR" altLang="en-US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E2B9F8-0F10-4B9C-A7C6-5EAB9F556AC8}"/>
              </a:ext>
            </a:extLst>
          </p:cNvPr>
          <p:cNvSpPr txBox="1"/>
          <p:nvPr/>
        </p:nvSpPr>
        <p:spPr>
          <a:xfrm>
            <a:off x="4534678" y="5336095"/>
            <a:ext cx="719707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맑은 고딕"/>
              </a:defRPr>
            </a:pPr>
            <a:r>
              <a:rPr lang="en-US" altLang="ko-KR" sz="1400" dirty="0"/>
              <a:t>• </a:t>
            </a:r>
            <a:r>
              <a:rPr lang="ko-KR" altLang="en-US" sz="1400" b="1" dirty="0"/>
              <a:t>현상</a:t>
            </a:r>
            <a:r>
              <a:rPr lang="en-US" altLang="ko-KR" sz="1400" dirty="0"/>
              <a:t>: </a:t>
            </a:r>
            <a:r>
              <a:rPr lang="ko-KR" altLang="en-US" sz="1400" dirty="0"/>
              <a:t>직진과 좌회전은 무난하게 수행하나</a:t>
            </a:r>
            <a:r>
              <a:rPr lang="en-US" altLang="ko-KR" sz="1400" dirty="0"/>
              <a:t>, </a:t>
            </a:r>
            <a:r>
              <a:rPr lang="ko-KR" altLang="en-US" sz="1400" b="1" dirty="0">
                <a:solidFill>
                  <a:schemeClr val="accent2"/>
                </a:solidFill>
              </a:rPr>
              <a:t>특정 각도</a:t>
            </a:r>
            <a:r>
              <a:rPr lang="en-US" altLang="ko-KR" sz="1400" b="1" dirty="0">
                <a:solidFill>
                  <a:schemeClr val="accent2"/>
                </a:solidFill>
              </a:rPr>
              <a:t>(</a:t>
            </a:r>
            <a:r>
              <a:rPr lang="ko-KR" altLang="en-US" sz="1400" b="1" dirty="0">
                <a:solidFill>
                  <a:schemeClr val="accent2"/>
                </a:solidFill>
              </a:rPr>
              <a:t>우회전</a:t>
            </a:r>
            <a:r>
              <a:rPr lang="en-US" altLang="ko-KR" sz="1400" b="1" dirty="0">
                <a:solidFill>
                  <a:schemeClr val="accent2"/>
                </a:solidFill>
              </a:rPr>
              <a:t>) </a:t>
            </a:r>
            <a:r>
              <a:rPr lang="ko-KR" altLang="en-US" sz="1400" b="1" dirty="0">
                <a:solidFill>
                  <a:schemeClr val="accent2"/>
                </a:solidFill>
              </a:rPr>
              <a:t>데이터 부족</a:t>
            </a:r>
            <a:r>
              <a:rPr lang="ko-KR" altLang="en-US" sz="1400" dirty="0"/>
              <a:t>으로 경로를 이탈함</a:t>
            </a:r>
            <a:endParaRPr lang="en-US" altLang="ko-KR" sz="1400" dirty="0"/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맑은 고딕"/>
              </a:defRPr>
            </a:pPr>
            <a:r>
              <a:rPr lang="en-US" altLang="ko-KR" dirty="0"/>
              <a:t>• </a:t>
            </a:r>
            <a:r>
              <a:rPr lang="ko-KR" altLang="en-US" b="1" dirty="0"/>
              <a:t>원인</a:t>
            </a:r>
            <a:r>
              <a:rPr lang="en-US" altLang="ko-KR" dirty="0"/>
              <a:t>: </a:t>
            </a:r>
            <a:r>
              <a:rPr lang="ko-KR" altLang="en-US" dirty="0"/>
              <a:t>우회전 데이터 부족</a:t>
            </a:r>
            <a:endParaRPr lang="en-US" altLang="ko-KR" dirty="0"/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맑은 고딕"/>
              </a:defRPr>
            </a:pPr>
            <a:r>
              <a:rPr lang="en-US" altLang="ko-KR" dirty="0"/>
              <a:t>• </a:t>
            </a:r>
            <a:r>
              <a:rPr lang="ko-KR" altLang="en-US" b="1" dirty="0"/>
              <a:t>개선 방향</a:t>
            </a:r>
            <a:r>
              <a:rPr lang="en-US" altLang="ko-KR" dirty="0"/>
              <a:t>: </a:t>
            </a:r>
            <a:r>
              <a:rPr lang="ko-KR" altLang="en-US" dirty="0"/>
              <a:t>데이터 추가 확보 필요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7FF571E5-BA08-4409-B218-94D53F110F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2096" y="2073608"/>
            <a:ext cx="6729247" cy="280385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493917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rPr sz="2400" dirty="0">
                <a:solidFill>
                  <a:schemeClr val="bg1">
                    <a:lumMod val="75000"/>
                  </a:schemeClr>
                </a:solidFill>
              </a:rPr>
              <a:t>5. </a:t>
            </a:r>
            <a:r>
              <a:rPr sz="2400" dirty="0" err="1">
                <a:solidFill>
                  <a:schemeClr val="bg1">
                    <a:lumMod val="75000"/>
                  </a:schemeClr>
                </a:solidFill>
              </a:rPr>
              <a:t>학습</a:t>
            </a:r>
            <a:r>
              <a:rPr sz="2400" dirty="0">
                <a:solidFill>
                  <a:schemeClr val="bg1">
                    <a:lumMod val="75000"/>
                  </a:schemeClr>
                </a:solidFill>
              </a:rPr>
              <a:t> 2회차 : </a:t>
            </a:r>
            <a:r>
              <a:rPr sz="2400" dirty="0" err="1">
                <a:solidFill>
                  <a:schemeClr val="bg1">
                    <a:lumMod val="75000"/>
                  </a:schemeClr>
                </a:solidFill>
              </a:rPr>
              <a:t>잘못된</a:t>
            </a:r>
            <a:r>
              <a:rPr sz="24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sz="2400" dirty="0" err="1">
                <a:solidFill>
                  <a:schemeClr val="bg1">
                    <a:lumMod val="75000"/>
                  </a:schemeClr>
                </a:solidFill>
              </a:rPr>
              <a:t>오버샘플링</a:t>
            </a:r>
            <a:endParaRPr sz="24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57200" y="1101013"/>
            <a:ext cx="3657600" cy="4842587"/>
          </a:xfrm>
          <a:prstGeom prst="roundRect">
            <a:avLst/>
          </a:prstGeom>
          <a:solidFill>
            <a:srgbClr val="2A2A2A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rIns="182880" rtlCol="0" anchor="ctr"/>
          <a:lstStyle/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맑은 고딕"/>
              </a:defRPr>
            </a:pPr>
            <a:endParaRPr dirty="0"/>
          </a:p>
        </p:txBody>
      </p:sp>
      <p:cxnSp>
        <p:nvCxnSpPr>
          <p:cNvPr id="6" name="Connector 5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492240"/>
            <a:ext cx="233589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</a:defRPr>
            </a:pPr>
            <a:r>
              <a:rPr lang="ko-KR" altLang="en-US" dirty="0"/>
              <a:t>글로벌시스템융합과 </a:t>
            </a:r>
            <a:r>
              <a:rPr dirty="0"/>
              <a:t>		6 / 10</a:t>
            </a:r>
          </a:p>
        </p:txBody>
      </p:sp>
      <p:cxnSp>
        <p:nvCxnSpPr>
          <p:cNvPr id="9" name="Connector 5">
            <a:extLst>
              <a:ext uri="{FF2B5EF4-FFF2-40B4-BE49-F238E27FC236}">
                <a16:creationId xmlns:a16="http://schemas.microsoft.com/office/drawing/2014/main" id="{CEEF6910-DA2D-47FF-9544-517F6EC69B89}"/>
              </a:ext>
            </a:extLst>
          </p:cNvPr>
          <p:cNvCxnSpPr/>
          <p:nvPr/>
        </p:nvCxnSpPr>
        <p:spPr>
          <a:xfrm>
            <a:off x="457200" y="827425"/>
            <a:ext cx="11274552" cy="0"/>
          </a:xfrm>
          <a:prstGeom prst="line">
            <a:avLst/>
          </a:prstGeom>
          <a:ln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4">
            <a:extLst>
              <a:ext uri="{FF2B5EF4-FFF2-40B4-BE49-F238E27FC236}">
                <a16:creationId xmlns:a16="http://schemas.microsoft.com/office/drawing/2014/main" id="{52521394-7088-4F75-ABA0-2366118A113D}"/>
              </a:ext>
            </a:extLst>
          </p:cNvPr>
          <p:cNvSpPr/>
          <p:nvPr/>
        </p:nvSpPr>
        <p:spPr>
          <a:xfrm>
            <a:off x="4389120" y="1609535"/>
            <a:ext cx="7315200" cy="3638929"/>
          </a:xfrm>
          <a:prstGeom prst="roundRect">
            <a:avLst/>
          </a:prstGeom>
          <a:solidFill>
            <a:srgbClr val="2A2A2A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rIns="182880" rtlCol="0" anchor="ctr"/>
          <a:lstStyle/>
          <a:p>
            <a:pPr algn="ctr">
              <a:spcAft>
                <a:spcPts val="1200"/>
              </a:spcAft>
              <a:defRPr sz="1800" b="1">
                <a:solidFill>
                  <a:srgbClr val="60A5FA"/>
                </a:solidFill>
                <a:latin typeface="맑은 고딕"/>
              </a:defRPr>
            </a:pPr>
            <a:endParaRPr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ED6065-F5CA-49E3-BF23-457B6FAC1598}"/>
              </a:ext>
            </a:extLst>
          </p:cNvPr>
          <p:cNvSpPr txBox="1"/>
          <p:nvPr/>
        </p:nvSpPr>
        <p:spPr>
          <a:xfrm>
            <a:off x="1034039" y="5281127"/>
            <a:ext cx="25039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solidFill>
                  <a:srgbClr val="E8F945"/>
                </a:solidFill>
              </a:rPr>
              <a:t>분할 결과 </a:t>
            </a:r>
            <a:r>
              <a:rPr lang="en-US" altLang="ko-KR" sz="1200" b="1" dirty="0">
                <a:solidFill>
                  <a:srgbClr val="E8F945"/>
                </a:solidFill>
              </a:rPr>
              <a:t>(7:2:1)</a:t>
            </a:r>
            <a:br>
              <a:rPr lang="ko-KR" altLang="en-US" sz="1200" dirty="0"/>
            </a:br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</a:rPr>
              <a:t>Train: 16881 / Val: 4823 / Test: 2412</a:t>
            </a:r>
            <a:endParaRPr lang="ko-KR" altLang="en-US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712847-5BBC-40B7-B621-3F8725D991CB}"/>
              </a:ext>
            </a:extLst>
          </p:cNvPr>
          <p:cNvSpPr txBox="1"/>
          <p:nvPr/>
        </p:nvSpPr>
        <p:spPr>
          <a:xfrm>
            <a:off x="4534678" y="1129004"/>
            <a:ext cx="3079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📉</a:t>
            </a:r>
            <a:r>
              <a:rPr lang="ko-KR" altLang="en-US" dirty="0">
                <a:solidFill>
                  <a:srgbClr val="4D7AB2"/>
                </a:solidFill>
              </a:rPr>
              <a:t> </a:t>
            </a:r>
            <a:r>
              <a:rPr lang="ko-KR" altLang="en-US" b="1" dirty="0">
                <a:solidFill>
                  <a:srgbClr val="4D7AB2"/>
                </a:solidFill>
              </a:rPr>
              <a:t>분석 결과</a:t>
            </a: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D26CDD85-5875-4197-ABFC-4A476AF98F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3583228"/>
              </p:ext>
            </p:extLst>
          </p:nvPr>
        </p:nvGraphicFramePr>
        <p:xfrm>
          <a:off x="1125687" y="1215390"/>
          <a:ext cx="2149358" cy="3851129"/>
        </p:xfrm>
        <a:graphic>
          <a:graphicData uri="http://schemas.openxmlformats.org/drawingml/2006/table">
            <a:tbl>
              <a:tblPr/>
              <a:tblGrid>
                <a:gridCol w="1076337">
                  <a:extLst>
                    <a:ext uri="{9D8B030D-6E8A-4147-A177-3AD203B41FA5}">
                      <a16:colId xmlns:a16="http://schemas.microsoft.com/office/drawing/2014/main" val="1898228887"/>
                    </a:ext>
                  </a:extLst>
                </a:gridCol>
                <a:gridCol w="1073021">
                  <a:extLst>
                    <a:ext uri="{9D8B030D-6E8A-4147-A177-3AD203B41FA5}">
                      <a16:colId xmlns:a16="http://schemas.microsoft.com/office/drawing/2014/main" val="3512604113"/>
                    </a:ext>
                  </a:extLst>
                </a:gridCol>
              </a:tblGrid>
              <a:tr h="64296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>
                          <a:solidFill>
                            <a:srgbClr val="FFFFFF"/>
                          </a:solidFill>
                          <a:effectLst/>
                        </a:rPr>
                        <a:t>각도 </a:t>
                      </a:r>
                      <a:r>
                        <a:rPr lang="en-US" altLang="ko-KR" sz="1200">
                          <a:solidFill>
                            <a:srgbClr val="FFFFFF"/>
                          </a:solidFill>
                          <a:effectLst/>
                        </a:rPr>
                        <a:t>(</a:t>
                      </a:r>
                      <a:r>
                        <a:rPr lang="en-US" sz="1200">
                          <a:solidFill>
                            <a:srgbClr val="FFFFFF"/>
                          </a:solidFill>
                          <a:effectLst/>
                        </a:rPr>
                        <a:t>Angle)</a:t>
                      </a: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>
                          <a:solidFill>
                            <a:srgbClr val="FFFFFF"/>
                          </a:solidFill>
                          <a:effectLst/>
                        </a:rPr>
                        <a:t>장수 </a:t>
                      </a:r>
                      <a:r>
                        <a:rPr lang="en-US" altLang="ko-KR" sz="1200" dirty="0">
                          <a:solidFill>
                            <a:srgbClr val="FFFFFF"/>
                          </a:solidFill>
                          <a:effectLst/>
                        </a:rPr>
                        <a:t>(</a:t>
                      </a:r>
                      <a:r>
                        <a:rPr lang="en-US" sz="1200" dirty="0">
                          <a:solidFill>
                            <a:srgbClr val="FFFFFF"/>
                          </a:solidFill>
                          <a:effectLst/>
                        </a:rPr>
                        <a:t>Count)</a:t>
                      </a: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7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1968073"/>
                  </a:ext>
                </a:extLst>
              </a:tr>
              <a:tr h="37119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CCCCCC"/>
                          </a:solidFill>
                          <a:effectLst/>
                        </a:rPr>
                        <a:t>10</a:t>
                      </a:r>
                      <a:r>
                        <a:rPr lang="ko-KR" altLang="en-US" sz="1200" dirty="0">
                          <a:solidFill>
                            <a:srgbClr val="CCCCCC"/>
                          </a:solidFill>
                          <a:effectLst/>
                        </a:rPr>
                        <a:t>도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solidFill>
                            <a:srgbClr val="CCCCCC"/>
                          </a:solidFill>
                          <a:effectLst/>
                        </a:rPr>
                        <a:t>3700</a:t>
                      </a:r>
                      <a:r>
                        <a:rPr lang="ko-KR" altLang="en-US" sz="1200">
                          <a:solidFill>
                            <a:srgbClr val="CCCCCC"/>
                          </a:solidFill>
                          <a:effectLst/>
                        </a:rPr>
                        <a:t>장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5388856"/>
                  </a:ext>
                </a:extLst>
              </a:tr>
              <a:tr h="37119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solidFill>
                            <a:srgbClr val="CCCCCC"/>
                          </a:solidFill>
                          <a:effectLst/>
                        </a:rPr>
                        <a:t>40</a:t>
                      </a:r>
                      <a:r>
                        <a:rPr lang="ko-KR" altLang="en-US" sz="1200">
                          <a:solidFill>
                            <a:srgbClr val="CCCCCC"/>
                          </a:solidFill>
                          <a:effectLst/>
                        </a:rPr>
                        <a:t>도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solidFill>
                            <a:srgbClr val="CCCCCC"/>
                          </a:solidFill>
                          <a:effectLst/>
                        </a:rPr>
                        <a:t>1561</a:t>
                      </a:r>
                      <a:r>
                        <a:rPr lang="ko-KR" altLang="en-US" sz="1200">
                          <a:solidFill>
                            <a:srgbClr val="CCCCCC"/>
                          </a:solidFill>
                          <a:effectLst/>
                        </a:rPr>
                        <a:t>장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5953035"/>
                  </a:ext>
                </a:extLst>
              </a:tr>
              <a:tr h="37119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solidFill>
                            <a:srgbClr val="CCCCCC"/>
                          </a:solidFill>
                          <a:effectLst/>
                        </a:rPr>
                        <a:t>70</a:t>
                      </a:r>
                      <a:r>
                        <a:rPr lang="ko-KR" altLang="en-US" sz="1200">
                          <a:solidFill>
                            <a:srgbClr val="CCCCCC"/>
                          </a:solidFill>
                          <a:effectLst/>
                        </a:rPr>
                        <a:t>도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solidFill>
                            <a:srgbClr val="CCCCCC"/>
                          </a:solidFill>
                          <a:effectLst/>
                        </a:rPr>
                        <a:t>3902</a:t>
                      </a:r>
                      <a:r>
                        <a:rPr lang="ko-KR" altLang="en-US" sz="1200">
                          <a:solidFill>
                            <a:srgbClr val="CCCCCC"/>
                          </a:solidFill>
                          <a:effectLst/>
                        </a:rPr>
                        <a:t>장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0092179"/>
                  </a:ext>
                </a:extLst>
              </a:tr>
              <a:tr h="37119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solidFill>
                            <a:srgbClr val="CCCCCC"/>
                          </a:solidFill>
                          <a:effectLst/>
                        </a:rPr>
                        <a:t>90</a:t>
                      </a:r>
                      <a:r>
                        <a:rPr lang="ko-KR" altLang="en-US" sz="1200">
                          <a:solidFill>
                            <a:srgbClr val="CCCCCC"/>
                          </a:solidFill>
                          <a:effectLst/>
                        </a:rPr>
                        <a:t>도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solidFill>
                            <a:srgbClr val="CCCCCC"/>
                          </a:solidFill>
                          <a:effectLst/>
                        </a:rPr>
                        <a:t>3204</a:t>
                      </a:r>
                      <a:r>
                        <a:rPr lang="ko-KR" altLang="en-US" sz="1200">
                          <a:solidFill>
                            <a:srgbClr val="CCCCCC"/>
                          </a:solidFill>
                          <a:effectLst/>
                        </a:rPr>
                        <a:t>장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772728"/>
                  </a:ext>
                </a:extLst>
              </a:tr>
              <a:tr h="37119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solidFill>
                            <a:srgbClr val="CCCCCC"/>
                          </a:solidFill>
                          <a:effectLst/>
                        </a:rPr>
                        <a:t>110</a:t>
                      </a:r>
                      <a:r>
                        <a:rPr lang="ko-KR" altLang="en-US" sz="1200">
                          <a:solidFill>
                            <a:srgbClr val="CCCCCC"/>
                          </a:solidFill>
                          <a:effectLst/>
                        </a:rPr>
                        <a:t>도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CCCCCC"/>
                          </a:solidFill>
                          <a:effectLst/>
                        </a:rPr>
                        <a:t>6026</a:t>
                      </a:r>
                      <a:r>
                        <a:rPr lang="ko-KR" altLang="en-US" sz="1200" dirty="0">
                          <a:solidFill>
                            <a:srgbClr val="CCCCCC"/>
                          </a:solidFill>
                          <a:effectLst/>
                        </a:rPr>
                        <a:t>장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5396609"/>
                  </a:ext>
                </a:extLst>
              </a:tr>
              <a:tr h="37119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solidFill>
                            <a:srgbClr val="CCCCCC"/>
                          </a:solidFill>
                          <a:effectLst/>
                        </a:rPr>
                        <a:t>140</a:t>
                      </a:r>
                      <a:r>
                        <a:rPr lang="ko-KR" altLang="en-US" sz="1200">
                          <a:solidFill>
                            <a:srgbClr val="CCCCCC"/>
                          </a:solidFill>
                          <a:effectLst/>
                        </a:rPr>
                        <a:t>도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CCCCCC"/>
                          </a:solidFill>
                          <a:effectLst/>
                        </a:rPr>
                        <a:t>1998</a:t>
                      </a:r>
                      <a:r>
                        <a:rPr lang="ko-KR" altLang="en-US" sz="1200" dirty="0">
                          <a:solidFill>
                            <a:srgbClr val="CCCCCC"/>
                          </a:solidFill>
                          <a:effectLst/>
                        </a:rPr>
                        <a:t>장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4448477"/>
                  </a:ext>
                </a:extLst>
              </a:tr>
              <a:tr h="37119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solidFill>
                            <a:srgbClr val="CCCCCC"/>
                          </a:solidFill>
                          <a:effectLst/>
                        </a:rPr>
                        <a:t>170</a:t>
                      </a:r>
                      <a:r>
                        <a:rPr lang="ko-KR" altLang="en-US" sz="1200">
                          <a:solidFill>
                            <a:srgbClr val="CCCCCC"/>
                          </a:solidFill>
                          <a:effectLst/>
                        </a:rPr>
                        <a:t>도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CCCCCC"/>
                          </a:solidFill>
                          <a:effectLst/>
                        </a:rPr>
                        <a:t>3725</a:t>
                      </a:r>
                      <a:r>
                        <a:rPr lang="ko-KR" altLang="en-US" sz="1200" dirty="0">
                          <a:solidFill>
                            <a:srgbClr val="CCCCCC"/>
                          </a:solidFill>
                          <a:effectLst/>
                        </a:rPr>
                        <a:t>장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7766649"/>
                  </a:ext>
                </a:extLst>
              </a:tr>
              <a:tr h="60981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>
                          <a:solidFill>
                            <a:srgbClr val="CCCCCC"/>
                          </a:solidFill>
                          <a:effectLst/>
                        </a:rPr>
                        <a:t>토탈 </a:t>
                      </a:r>
                      <a:r>
                        <a:rPr lang="en-US" altLang="ko-KR" sz="1200" b="1">
                          <a:solidFill>
                            <a:srgbClr val="CCCCCC"/>
                          </a:solidFill>
                          <a:effectLst/>
                        </a:rPr>
                        <a:t>(</a:t>
                      </a:r>
                      <a:r>
                        <a:rPr lang="en-US" sz="1200" b="1">
                          <a:solidFill>
                            <a:srgbClr val="CCCCCC"/>
                          </a:solidFill>
                          <a:effectLst/>
                        </a:rPr>
                        <a:t>Total)</a:t>
                      </a:r>
                      <a:endParaRPr lang="en-US" sz="1200">
                        <a:solidFill>
                          <a:srgbClr val="CCCCCC"/>
                        </a:solidFill>
                        <a:effectLst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>
                          <a:solidFill>
                            <a:srgbClr val="CCCCCC"/>
                          </a:solidFill>
                          <a:effectLst/>
                        </a:rPr>
                        <a:t>24116</a:t>
                      </a:r>
                      <a:r>
                        <a:rPr lang="ko-KR" altLang="en-US" sz="1200" b="1" dirty="0">
                          <a:solidFill>
                            <a:srgbClr val="CCCCCC"/>
                          </a:solidFill>
                          <a:effectLst/>
                        </a:rPr>
                        <a:t>장</a:t>
                      </a:r>
                      <a:endParaRPr lang="ko-KR" altLang="en-US" sz="1200" dirty="0">
                        <a:solidFill>
                          <a:srgbClr val="CCCCCC"/>
                        </a:solidFill>
                        <a:effectLst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8695813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89E5C3C7-CB38-4115-B02F-169C6C6FC8F6}"/>
              </a:ext>
            </a:extLst>
          </p:cNvPr>
          <p:cNvSpPr txBox="1"/>
          <p:nvPr/>
        </p:nvSpPr>
        <p:spPr>
          <a:xfrm>
            <a:off x="4534678" y="5336095"/>
            <a:ext cx="719707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맑은 고딕"/>
              </a:defRPr>
            </a:pPr>
            <a:r>
              <a:rPr lang="en-US" altLang="ko-KR" sz="1400" dirty="0"/>
              <a:t>• </a:t>
            </a:r>
            <a:r>
              <a:rPr lang="ko-KR" altLang="en-US" sz="1400" b="1" dirty="0"/>
              <a:t>결과</a:t>
            </a:r>
            <a:r>
              <a:rPr lang="en-US" altLang="ko-KR" sz="1400" dirty="0"/>
              <a:t>: </a:t>
            </a:r>
            <a:r>
              <a:rPr lang="ko-KR" altLang="en-US" sz="1400" dirty="0" err="1"/>
              <a:t>우회전뿐만</a:t>
            </a:r>
            <a:r>
              <a:rPr lang="ko-KR" altLang="en-US" sz="1400" dirty="0"/>
              <a:t> 아니라</a:t>
            </a:r>
            <a:r>
              <a:rPr lang="en-US" altLang="ko-KR" sz="1400" dirty="0"/>
              <a:t>, </a:t>
            </a:r>
            <a:r>
              <a:rPr lang="ko-KR" altLang="en-US" sz="1400" b="1" dirty="0">
                <a:solidFill>
                  <a:schemeClr val="accent3"/>
                </a:solidFill>
              </a:rPr>
              <a:t>기존에 잘 되던 좌회전 성능까지 하락</a:t>
            </a:r>
            <a:r>
              <a:rPr lang="ko-KR" altLang="en-US" sz="1400" dirty="0"/>
              <a:t>함</a:t>
            </a:r>
            <a:endParaRPr lang="en-US" altLang="ko-KR" sz="1400" dirty="0"/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맑은 고딕"/>
              </a:defRPr>
            </a:pPr>
            <a:r>
              <a:rPr lang="en-US" altLang="ko-KR" dirty="0"/>
              <a:t>• </a:t>
            </a:r>
            <a:r>
              <a:rPr lang="ko-KR" altLang="en-US" b="1" dirty="0"/>
              <a:t>원인</a:t>
            </a:r>
            <a:r>
              <a:rPr lang="en-US" altLang="ko-KR" dirty="0"/>
              <a:t>: </a:t>
            </a:r>
            <a:r>
              <a:rPr lang="ko-KR" altLang="en-US" dirty="0"/>
              <a:t>이미지를 좌우 반전</a:t>
            </a:r>
            <a:r>
              <a:rPr lang="en-US" altLang="ko-KR" dirty="0"/>
              <a:t> </a:t>
            </a:r>
            <a:r>
              <a:rPr lang="ko-KR" altLang="en-US" dirty="0"/>
              <a:t>시키면서 배경의 특징</a:t>
            </a:r>
            <a:r>
              <a:rPr lang="en-US" altLang="ko-KR" dirty="0"/>
              <a:t>(</a:t>
            </a:r>
            <a:r>
              <a:rPr lang="ko-KR" altLang="en-US" dirty="0"/>
              <a:t>조명</a:t>
            </a:r>
            <a:r>
              <a:rPr lang="en-US" altLang="ko-KR" dirty="0"/>
              <a:t>, </a:t>
            </a:r>
            <a:r>
              <a:rPr lang="ko-KR" altLang="en-US" dirty="0"/>
              <a:t>그림자 위치</a:t>
            </a:r>
            <a:r>
              <a:rPr lang="en-US" altLang="ko-KR" dirty="0"/>
              <a:t>)</a:t>
            </a:r>
            <a:r>
              <a:rPr lang="ko-KR" altLang="en-US" dirty="0"/>
              <a:t>이 현실과 달려져 노이즈로 작용함</a:t>
            </a:r>
            <a:endParaRPr lang="en-US" altLang="ko-KR" dirty="0"/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맑은 고딕"/>
              </a:defRPr>
            </a:pPr>
            <a:r>
              <a:rPr lang="en-US" altLang="ko-KR" dirty="0"/>
              <a:t>• </a:t>
            </a:r>
            <a:r>
              <a:rPr lang="ko-KR" altLang="en-US" b="1" dirty="0"/>
              <a:t>개선 방향</a:t>
            </a:r>
            <a:r>
              <a:rPr lang="en-US" altLang="ko-KR" dirty="0"/>
              <a:t>: </a:t>
            </a:r>
            <a:r>
              <a:rPr lang="ko-KR" altLang="en-US" dirty="0"/>
              <a:t>무분별한 데이터 증강 개선 필요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DC5C2A33-13AE-4418-B038-6A71D5005C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4678" y="2118262"/>
            <a:ext cx="3660916" cy="2760634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231A474D-E223-45A1-9371-D07398EC43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6109" y="2118263"/>
            <a:ext cx="3287695" cy="280392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443262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rPr sz="2400" dirty="0">
                <a:solidFill>
                  <a:schemeClr val="bg1">
                    <a:lumMod val="75000"/>
                  </a:schemeClr>
                </a:solidFill>
              </a:rPr>
              <a:t>6. </a:t>
            </a:r>
            <a:r>
              <a:rPr sz="2400" dirty="0" err="1">
                <a:solidFill>
                  <a:schemeClr val="bg1">
                    <a:lumMod val="75000"/>
                  </a:schemeClr>
                </a:solidFill>
              </a:rPr>
              <a:t>학습</a:t>
            </a:r>
            <a:r>
              <a:rPr sz="2400" dirty="0">
                <a:solidFill>
                  <a:schemeClr val="bg1">
                    <a:lumMod val="75000"/>
                  </a:schemeClr>
                </a:solidFill>
              </a:rPr>
              <a:t> 3회차 : </a:t>
            </a:r>
            <a:r>
              <a:rPr sz="2400" dirty="0" err="1">
                <a:solidFill>
                  <a:schemeClr val="bg1">
                    <a:lumMod val="75000"/>
                  </a:schemeClr>
                </a:solidFill>
              </a:rPr>
              <a:t>최적화</a:t>
            </a:r>
            <a:r>
              <a:rPr sz="2400" dirty="0">
                <a:solidFill>
                  <a:schemeClr val="bg1">
                    <a:lumMod val="75000"/>
                  </a:schemeClr>
                </a:solidFill>
              </a:rPr>
              <a:t> 및 </a:t>
            </a:r>
            <a:r>
              <a:rPr sz="2400" dirty="0" err="1">
                <a:solidFill>
                  <a:schemeClr val="bg1">
                    <a:lumMod val="75000"/>
                  </a:schemeClr>
                </a:solidFill>
              </a:rPr>
              <a:t>성공</a:t>
            </a:r>
            <a:endParaRPr sz="2400" dirty="0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492240"/>
            <a:ext cx="233589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</a:defRPr>
            </a:pPr>
            <a:r>
              <a:rPr lang="ko-KR" altLang="en-US" dirty="0"/>
              <a:t>글로벌시스템융합과 </a:t>
            </a:r>
            <a:r>
              <a:rPr dirty="0"/>
              <a:t>		7 / 10</a:t>
            </a:r>
          </a:p>
        </p:txBody>
      </p:sp>
      <p:cxnSp>
        <p:nvCxnSpPr>
          <p:cNvPr id="8" name="Connector 5">
            <a:extLst>
              <a:ext uri="{FF2B5EF4-FFF2-40B4-BE49-F238E27FC236}">
                <a16:creationId xmlns:a16="http://schemas.microsoft.com/office/drawing/2014/main" id="{6B9CCAF1-A51C-48A3-A321-B77CA9E6A860}"/>
              </a:ext>
            </a:extLst>
          </p:cNvPr>
          <p:cNvCxnSpPr/>
          <p:nvPr/>
        </p:nvCxnSpPr>
        <p:spPr>
          <a:xfrm>
            <a:off x="457200" y="827425"/>
            <a:ext cx="11274552" cy="0"/>
          </a:xfrm>
          <a:prstGeom prst="line">
            <a:avLst/>
          </a:prstGeom>
          <a:ln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B78801D4-F40B-4823-ADB1-A978AD2120C3}"/>
              </a:ext>
            </a:extLst>
          </p:cNvPr>
          <p:cNvSpPr/>
          <p:nvPr/>
        </p:nvSpPr>
        <p:spPr>
          <a:xfrm>
            <a:off x="457200" y="1101013"/>
            <a:ext cx="3657600" cy="4842587"/>
          </a:xfrm>
          <a:prstGeom prst="roundRect">
            <a:avLst/>
          </a:prstGeom>
          <a:solidFill>
            <a:srgbClr val="2A2A2A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rIns="182880" rtlCol="0" anchor="ctr"/>
          <a:lstStyle/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맑은 고딕"/>
              </a:defRPr>
            </a:pPr>
            <a:endParaRPr dirty="0"/>
          </a:p>
        </p:txBody>
      </p:sp>
      <p:sp>
        <p:nvSpPr>
          <p:cNvPr id="10" name="Rounded Rectangle 4">
            <a:extLst>
              <a:ext uri="{FF2B5EF4-FFF2-40B4-BE49-F238E27FC236}">
                <a16:creationId xmlns:a16="http://schemas.microsoft.com/office/drawing/2014/main" id="{7D2ECA2B-AF8B-480B-953D-829918B20D53}"/>
              </a:ext>
            </a:extLst>
          </p:cNvPr>
          <p:cNvSpPr/>
          <p:nvPr/>
        </p:nvSpPr>
        <p:spPr>
          <a:xfrm>
            <a:off x="4389120" y="1609535"/>
            <a:ext cx="7315200" cy="3638929"/>
          </a:xfrm>
          <a:prstGeom prst="roundRect">
            <a:avLst/>
          </a:prstGeom>
          <a:solidFill>
            <a:srgbClr val="2A2A2A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rIns="182880" rtlCol="0" anchor="ctr"/>
          <a:lstStyle/>
          <a:p>
            <a:pPr algn="ctr">
              <a:spcAft>
                <a:spcPts val="1200"/>
              </a:spcAft>
              <a:defRPr sz="1800" b="1">
                <a:solidFill>
                  <a:srgbClr val="60A5FA"/>
                </a:solidFill>
                <a:latin typeface="맑은 고딕"/>
              </a:defRPr>
            </a:pPr>
            <a:endParaRPr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6A2477-2C1D-4888-9749-A80DB4B55D0A}"/>
              </a:ext>
            </a:extLst>
          </p:cNvPr>
          <p:cNvSpPr txBox="1"/>
          <p:nvPr/>
        </p:nvSpPr>
        <p:spPr>
          <a:xfrm>
            <a:off x="1034039" y="5281127"/>
            <a:ext cx="25039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solidFill>
                  <a:srgbClr val="E8F945"/>
                </a:solidFill>
              </a:rPr>
              <a:t>분할 결과 </a:t>
            </a:r>
            <a:r>
              <a:rPr lang="en-US" altLang="ko-KR" sz="1200" b="1" dirty="0">
                <a:solidFill>
                  <a:srgbClr val="E8F945"/>
                </a:solidFill>
              </a:rPr>
              <a:t>(7:2:1)</a:t>
            </a:r>
            <a:br>
              <a:rPr lang="ko-KR" altLang="en-US" sz="1200" dirty="0"/>
            </a:br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</a:rPr>
              <a:t>Train: 19120 / Val: 5463 / Test: 2731</a:t>
            </a:r>
            <a:endParaRPr lang="ko-KR" altLang="en-US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BEF337-5277-449D-B55F-0FA828AD165C}"/>
              </a:ext>
            </a:extLst>
          </p:cNvPr>
          <p:cNvSpPr txBox="1"/>
          <p:nvPr/>
        </p:nvSpPr>
        <p:spPr>
          <a:xfrm>
            <a:off x="4534678" y="1129004"/>
            <a:ext cx="3079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📉</a:t>
            </a:r>
            <a:r>
              <a:rPr lang="ko-KR" altLang="en-US" dirty="0">
                <a:solidFill>
                  <a:srgbClr val="4D7AB2"/>
                </a:solidFill>
              </a:rPr>
              <a:t> </a:t>
            </a:r>
            <a:r>
              <a:rPr lang="ko-KR" altLang="en-US" b="1" dirty="0">
                <a:solidFill>
                  <a:srgbClr val="4D7AB2"/>
                </a:solidFill>
              </a:rPr>
              <a:t>분석 결과</a:t>
            </a: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655AAF81-6F72-4B42-8F36-16A55AAA61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2174412"/>
              </p:ext>
            </p:extLst>
          </p:nvPr>
        </p:nvGraphicFramePr>
        <p:xfrm>
          <a:off x="1125687" y="1215390"/>
          <a:ext cx="2149358" cy="3851129"/>
        </p:xfrm>
        <a:graphic>
          <a:graphicData uri="http://schemas.openxmlformats.org/drawingml/2006/table">
            <a:tbl>
              <a:tblPr/>
              <a:tblGrid>
                <a:gridCol w="1076337">
                  <a:extLst>
                    <a:ext uri="{9D8B030D-6E8A-4147-A177-3AD203B41FA5}">
                      <a16:colId xmlns:a16="http://schemas.microsoft.com/office/drawing/2014/main" val="1898228887"/>
                    </a:ext>
                  </a:extLst>
                </a:gridCol>
                <a:gridCol w="1073021">
                  <a:extLst>
                    <a:ext uri="{9D8B030D-6E8A-4147-A177-3AD203B41FA5}">
                      <a16:colId xmlns:a16="http://schemas.microsoft.com/office/drawing/2014/main" val="3512604113"/>
                    </a:ext>
                  </a:extLst>
                </a:gridCol>
              </a:tblGrid>
              <a:tr h="64296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>
                          <a:solidFill>
                            <a:srgbClr val="FFFFFF"/>
                          </a:solidFill>
                          <a:effectLst/>
                        </a:rPr>
                        <a:t>각도 </a:t>
                      </a:r>
                      <a:r>
                        <a:rPr lang="en-US" altLang="ko-KR" sz="1200">
                          <a:solidFill>
                            <a:srgbClr val="FFFFFF"/>
                          </a:solidFill>
                          <a:effectLst/>
                        </a:rPr>
                        <a:t>(</a:t>
                      </a:r>
                      <a:r>
                        <a:rPr lang="en-US" sz="1200">
                          <a:solidFill>
                            <a:srgbClr val="FFFFFF"/>
                          </a:solidFill>
                          <a:effectLst/>
                        </a:rPr>
                        <a:t>Angle)</a:t>
                      </a: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>
                          <a:solidFill>
                            <a:srgbClr val="FFFFFF"/>
                          </a:solidFill>
                          <a:effectLst/>
                        </a:rPr>
                        <a:t>장수 </a:t>
                      </a:r>
                      <a:r>
                        <a:rPr lang="en-US" altLang="ko-KR" sz="1200" dirty="0">
                          <a:solidFill>
                            <a:srgbClr val="FFFFFF"/>
                          </a:solidFill>
                          <a:effectLst/>
                        </a:rPr>
                        <a:t>(</a:t>
                      </a:r>
                      <a:r>
                        <a:rPr lang="en-US" sz="1200" dirty="0">
                          <a:solidFill>
                            <a:srgbClr val="FFFFFF"/>
                          </a:solidFill>
                          <a:effectLst/>
                        </a:rPr>
                        <a:t>Count)</a:t>
                      </a: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7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1968073"/>
                  </a:ext>
                </a:extLst>
              </a:tr>
              <a:tr h="37119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CCCCCC"/>
                          </a:solidFill>
                          <a:effectLst/>
                        </a:rPr>
                        <a:t>10</a:t>
                      </a:r>
                      <a:r>
                        <a:rPr lang="ko-KR" altLang="en-US" sz="1200" dirty="0">
                          <a:solidFill>
                            <a:srgbClr val="CCCCCC"/>
                          </a:solidFill>
                          <a:effectLst/>
                        </a:rPr>
                        <a:t>도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CCCCCC"/>
                          </a:solidFill>
                          <a:effectLst/>
                        </a:rPr>
                        <a:t>3902</a:t>
                      </a:r>
                      <a:r>
                        <a:rPr lang="ko-KR" altLang="en-US" sz="1200" dirty="0">
                          <a:solidFill>
                            <a:srgbClr val="CCCCCC"/>
                          </a:solidFill>
                          <a:effectLst/>
                        </a:rPr>
                        <a:t>장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5388856"/>
                  </a:ext>
                </a:extLst>
              </a:tr>
              <a:tr h="37119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solidFill>
                            <a:srgbClr val="CCCCCC"/>
                          </a:solidFill>
                          <a:effectLst/>
                        </a:rPr>
                        <a:t>40</a:t>
                      </a:r>
                      <a:r>
                        <a:rPr lang="ko-KR" altLang="en-US" sz="1200">
                          <a:solidFill>
                            <a:srgbClr val="CCCCCC"/>
                          </a:solidFill>
                          <a:effectLst/>
                        </a:rPr>
                        <a:t>도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CCCCCC"/>
                          </a:solidFill>
                          <a:effectLst/>
                        </a:rPr>
                        <a:t>3902</a:t>
                      </a:r>
                      <a:r>
                        <a:rPr lang="ko-KR" altLang="en-US" sz="1200" dirty="0">
                          <a:solidFill>
                            <a:srgbClr val="CCCCCC"/>
                          </a:solidFill>
                          <a:effectLst/>
                        </a:rPr>
                        <a:t>장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5953035"/>
                  </a:ext>
                </a:extLst>
              </a:tr>
              <a:tr h="37119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solidFill>
                            <a:srgbClr val="CCCCCC"/>
                          </a:solidFill>
                          <a:effectLst/>
                        </a:rPr>
                        <a:t>70</a:t>
                      </a:r>
                      <a:r>
                        <a:rPr lang="ko-KR" altLang="en-US" sz="1200">
                          <a:solidFill>
                            <a:srgbClr val="CCCCCC"/>
                          </a:solidFill>
                          <a:effectLst/>
                        </a:rPr>
                        <a:t>도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CCCCCC"/>
                          </a:solidFill>
                          <a:effectLst/>
                        </a:rPr>
                        <a:t>3902</a:t>
                      </a:r>
                      <a:r>
                        <a:rPr lang="ko-KR" altLang="en-US" sz="1200" dirty="0">
                          <a:solidFill>
                            <a:srgbClr val="CCCCCC"/>
                          </a:solidFill>
                          <a:effectLst/>
                        </a:rPr>
                        <a:t>장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0092179"/>
                  </a:ext>
                </a:extLst>
              </a:tr>
              <a:tr h="37119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solidFill>
                            <a:srgbClr val="CCCCCC"/>
                          </a:solidFill>
                          <a:effectLst/>
                        </a:rPr>
                        <a:t>90</a:t>
                      </a:r>
                      <a:r>
                        <a:rPr lang="ko-KR" altLang="en-US" sz="1200">
                          <a:solidFill>
                            <a:srgbClr val="CCCCCC"/>
                          </a:solidFill>
                          <a:effectLst/>
                        </a:rPr>
                        <a:t>도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CCCCCC"/>
                          </a:solidFill>
                          <a:effectLst/>
                        </a:rPr>
                        <a:t>3902</a:t>
                      </a:r>
                      <a:r>
                        <a:rPr lang="ko-KR" altLang="en-US" sz="1200" dirty="0">
                          <a:solidFill>
                            <a:srgbClr val="CCCCCC"/>
                          </a:solidFill>
                          <a:effectLst/>
                        </a:rPr>
                        <a:t>장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772728"/>
                  </a:ext>
                </a:extLst>
              </a:tr>
              <a:tr h="37119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solidFill>
                            <a:srgbClr val="CCCCCC"/>
                          </a:solidFill>
                          <a:effectLst/>
                        </a:rPr>
                        <a:t>110</a:t>
                      </a:r>
                      <a:r>
                        <a:rPr lang="ko-KR" altLang="en-US" sz="1200">
                          <a:solidFill>
                            <a:srgbClr val="CCCCCC"/>
                          </a:solidFill>
                          <a:effectLst/>
                        </a:rPr>
                        <a:t>도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CCCCCC"/>
                          </a:solidFill>
                          <a:effectLst/>
                        </a:rPr>
                        <a:t>3902</a:t>
                      </a:r>
                      <a:r>
                        <a:rPr lang="ko-KR" altLang="en-US" sz="1200" dirty="0">
                          <a:solidFill>
                            <a:srgbClr val="CCCCCC"/>
                          </a:solidFill>
                          <a:effectLst/>
                        </a:rPr>
                        <a:t>장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5396609"/>
                  </a:ext>
                </a:extLst>
              </a:tr>
              <a:tr h="37119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solidFill>
                            <a:srgbClr val="CCCCCC"/>
                          </a:solidFill>
                          <a:effectLst/>
                        </a:rPr>
                        <a:t>140</a:t>
                      </a:r>
                      <a:r>
                        <a:rPr lang="ko-KR" altLang="en-US" sz="1200">
                          <a:solidFill>
                            <a:srgbClr val="CCCCCC"/>
                          </a:solidFill>
                          <a:effectLst/>
                        </a:rPr>
                        <a:t>도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CCCCCC"/>
                          </a:solidFill>
                          <a:effectLst/>
                        </a:rPr>
                        <a:t>3902</a:t>
                      </a:r>
                      <a:r>
                        <a:rPr lang="ko-KR" altLang="en-US" sz="1200" dirty="0">
                          <a:solidFill>
                            <a:srgbClr val="CCCCCC"/>
                          </a:solidFill>
                          <a:effectLst/>
                        </a:rPr>
                        <a:t>장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4448477"/>
                  </a:ext>
                </a:extLst>
              </a:tr>
              <a:tr h="37119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solidFill>
                            <a:srgbClr val="CCCCCC"/>
                          </a:solidFill>
                          <a:effectLst/>
                        </a:rPr>
                        <a:t>170</a:t>
                      </a:r>
                      <a:r>
                        <a:rPr lang="ko-KR" altLang="en-US" sz="1200">
                          <a:solidFill>
                            <a:srgbClr val="CCCCCC"/>
                          </a:solidFill>
                          <a:effectLst/>
                        </a:rPr>
                        <a:t>도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CCCCCC"/>
                          </a:solidFill>
                          <a:effectLst/>
                        </a:rPr>
                        <a:t>3902</a:t>
                      </a:r>
                      <a:r>
                        <a:rPr lang="ko-KR" altLang="en-US" sz="1200" dirty="0">
                          <a:solidFill>
                            <a:srgbClr val="CCCCCC"/>
                          </a:solidFill>
                          <a:effectLst/>
                        </a:rPr>
                        <a:t>장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7766649"/>
                  </a:ext>
                </a:extLst>
              </a:tr>
              <a:tr h="60981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>
                          <a:solidFill>
                            <a:srgbClr val="CCCCCC"/>
                          </a:solidFill>
                          <a:effectLst/>
                        </a:rPr>
                        <a:t>토탈 </a:t>
                      </a:r>
                      <a:r>
                        <a:rPr lang="en-US" altLang="ko-KR" sz="1200" b="1">
                          <a:solidFill>
                            <a:srgbClr val="CCCCCC"/>
                          </a:solidFill>
                          <a:effectLst/>
                        </a:rPr>
                        <a:t>(</a:t>
                      </a:r>
                      <a:r>
                        <a:rPr lang="en-US" sz="1200" b="1">
                          <a:solidFill>
                            <a:srgbClr val="CCCCCC"/>
                          </a:solidFill>
                          <a:effectLst/>
                        </a:rPr>
                        <a:t>Total)</a:t>
                      </a:r>
                      <a:endParaRPr lang="en-US" sz="1200">
                        <a:solidFill>
                          <a:srgbClr val="CCCCCC"/>
                        </a:solidFill>
                        <a:effectLst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>
                          <a:solidFill>
                            <a:srgbClr val="CCCCCC"/>
                          </a:solidFill>
                          <a:effectLst/>
                        </a:rPr>
                        <a:t>27314</a:t>
                      </a:r>
                      <a:r>
                        <a:rPr lang="ko-KR" altLang="en-US" sz="1200" b="1" dirty="0">
                          <a:solidFill>
                            <a:srgbClr val="CCCCCC"/>
                          </a:solidFill>
                          <a:effectLst/>
                        </a:rPr>
                        <a:t>장</a:t>
                      </a:r>
                      <a:endParaRPr lang="ko-KR" altLang="en-US" sz="1200" dirty="0">
                        <a:solidFill>
                          <a:srgbClr val="CCCCCC"/>
                        </a:solidFill>
                        <a:effectLst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8695813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9B0E31CC-6D4C-4235-9B7C-67A2BF91C1DE}"/>
              </a:ext>
            </a:extLst>
          </p:cNvPr>
          <p:cNvSpPr txBox="1"/>
          <p:nvPr/>
        </p:nvSpPr>
        <p:spPr>
          <a:xfrm>
            <a:off x="4534678" y="5336095"/>
            <a:ext cx="7197074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맑은 고딕"/>
              </a:defRPr>
            </a:pPr>
            <a:r>
              <a:rPr lang="en-US" altLang="ko-KR" sz="1400" dirty="0"/>
              <a:t>• </a:t>
            </a:r>
            <a:r>
              <a:rPr lang="ko-KR" altLang="en-US" sz="1400" b="1" dirty="0"/>
              <a:t>결과</a:t>
            </a:r>
            <a:r>
              <a:rPr lang="en-US" altLang="ko-KR" sz="1400" dirty="0"/>
              <a:t>: </a:t>
            </a:r>
            <a:r>
              <a:rPr lang="ko-KR" altLang="en-US" sz="1400" dirty="0"/>
              <a:t>좌</a:t>
            </a:r>
            <a:r>
              <a:rPr lang="en-US" altLang="ko-KR" sz="1400" dirty="0"/>
              <a:t>/</a:t>
            </a:r>
            <a:r>
              <a:rPr lang="ko-KR" altLang="en-US" sz="1400" dirty="0"/>
              <a:t>우회전 및 직진 모든 구간에서 안정적인 값 추론</a:t>
            </a:r>
            <a:endParaRPr lang="en-US" altLang="ko-KR" sz="1400" dirty="0"/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맑은 고딕"/>
              </a:defRPr>
            </a:pPr>
            <a:r>
              <a:rPr lang="en-US" altLang="ko-KR" dirty="0"/>
              <a:t>• </a:t>
            </a:r>
            <a:r>
              <a:rPr lang="ko-KR" altLang="en-US" b="1" dirty="0"/>
              <a:t>성과</a:t>
            </a:r>
            <a:r>
              <a:rPr lang="en-US" altLang="ko-KR" dirty="0"/>
              <a:t>: </a:t>
            </a:r>
            <a:r>
              <a:rPr lang="ko-KR" altLang="en-US" dirty="0"/>
              <a:t>데이터 불균형을 해소하여 </a:t>
            </a:r>
            <a:r>
              <a:rPr lang="en-US" altLang="ko-KR" dirty="0"/>
              <a:t>Loss </a:t>
            </a:r>
            <a:r>
              <a:rPr lang="ko-KR" altLang="en-US" dirty="0"/>
              <a:t>값이 안정적으로 </a:t>
            </a:r>
            <a:r>
              <a:rPr lang="en-US" altLang="ko-KR" dirty="0"/>
              <a:t>0.1 </a:t>
            </a:r>
            <a:r>
              <a:rPr lang="ko-KR" altLang="en-US" dirty="0"/>
              <a:t>이하로 수렴함</a:t>
            </a:r>
            <a:endParaRPr lang="en-US" altLang="ko-KR" dirty="0"/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맑은 고딕"/>
              </a:defRPr>
            </a:pPr>
            <a:r>
              <a:rPr lang="en-US" altLang="ko-KR" dirty="0"/>
              <a:t>• </a:t>
            </a:r>
            <a:r>
              <a:rPr lang="ko-KR" altLang="en-US" b="1" dirty="0"/>
              <a:t>주행</a:t>
            </a:r>
            <a:r>
              <a:rPr lang="en-US" altLang="ko-KR" dirty="0"/>
              <a:t>: </a:t>
            </a:r>
            <a:r>
              <a:rPr lang="ko-KR" altLang="en-US" dirty="0"/>
              <a:t>라인 이탈 없이 부드러운 코너링으로 완주 성공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ACDCF0F5-EC4B-48DA-8CE2-678FB7F9BD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5159" y="2127380"/>
            <a:ext cx="3609590" cy="2751516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EB677A8B-4EEC-4432-9795-CE2DD521F5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0787" y="2127381"/>
            <a:ext cx="3387013" cy="278985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364875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rPr sz="2400" dirty="0">
                <a:solidFill>
                  <a:schemeClr val="bg1">
                    <a:lumMod val="75000"/>
                  </a:schemeClr>
                </a:solidFill>
              </a:rPr>
              <a:t>7. </a:t>
            </a:r>
            <a:r>
              <a:rPr sz="2400" dirty="0" err="1">
                <a:solidFill>
                  <a:schemeClr val="bg1">
                    <a:lumMod val="75000"/>
                  </a:schemeClr>
                </a:solidFill>
              </a:rPr>
              <a:t>성능</a:t>
            </a:r>
            <a:r>
              <a:rPr sz="24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sz="2400" dirty="0" err="1">
                <a:solidFill>
                  <a:schemeClr val="bg1">
                    <a:lumMod val="75000"/>
                  </a:schemeClr>
                </a:solidFill>
              </a:rPr>
              <a:t>평가지표</a:t>
            </a:r>
            <a:r>
              <a:rPr sz="2400" dirty="0">
                <a:solidFill>
                  <a:schemeClr val="bg1">
                    <a:lumMod val="75000"/>
                  </a:schemeClr>
                </a:solidFill>
              </a:rPr>
              <a:t> 및 </a:t>
            </a:r>
            <a:r>
              <a:rPr sz="2400" dirty="0" err="1">
                <a:solidFill>
                  <a:schemeClr val="bg1">
                    <a:lumMod val="75000"/>
                  </a:schemeClr>
                </a:solidFill>
              </a:rPr>
              <a:t>분석</a:t>
            </a:r>
            <a:endParaRPr sz="24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65759" y="918864"/>
            <a:ext cx="11274551" cy="3793094"/>
          </a:xfrm>
          <a:prstGeom prst="roundRect">
            <a:avLst/>
          </a:prstGeom>
          <a:solidFill>
            <a:srgbClr val="2A2A2A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rIns="182880" rtlCol="0" anchor="ctr"/>
          <a:lstStyle/>
          <a:p>
            <a:pPr>
              <a:spcAft>
                <a:spcPts val="1200"/>
              </a:spcAft>
              <a:defRPr sz="1800" b="1">
                <a:solidFill>
                  <a:srgbClr val="60A5FA"/>
                </a:solidFill>
                <a:latin typeface="맑은 고딕"/>
              </a:defRPr>
            </a:pPr>
            <a:endParaRPr lang="en-US" altLang="ko-KR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365759" y="4938500"/>
            <a:ext cx="11274551" cy="1233699"/>
          </a:xfrm>
          <a:prstGeom prst="roundRect">
            <a:avLst/>
          </a:prstGeom>
          <a:solidFill>
            <a:srgbClr val="2A2A2A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rIns="182880" rtlCol="0" anchor="ctr"/>
          <a:lstStyle/>
          <a:p>
            <a:pPr>
              <a:spcAft>
                <a:spcPts val="1200"/>
              </a:spcAft>
              <a:defRPr sz="1800" b="1">
                <a:solidFill>
                  <a:srgbClr val="60A5FA"/>
                </a:solidFill>
                <a:latin typeface="맑은 고딕"/>
              </a:defRPr>
            </a:pP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</a:rPr>
              <a:t>자율주행 모델은 최종 평가에서 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</a:rPr>
              <a:t>82.77%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</a:rPr>
              <a:t>의 정확도를 달성하였으며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</a:rPr>
              <a:t>, 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</a:rPr>
              <a:t>특히 사고 위험이 높은 </a:t>
            </a:r>
            <a:r>
              <a:rPr lang="ko-KR" altLang="en-US" sz="1200" dirty="0">
                <a:solidFill>
                  <a:srgbClr val="39CD05"/>
                </a:solidFill>
              </a:rPr>
              <a:t>급커브 구간에서 높은 인식 성능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</a:rPr>
              <a:t>특히 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</a:rPr>
              <a:t>170</a:t>
            </a:r>
            <a:r>
              <a:rPr lang="en-US" altLang="ko-KR" b="1" dirty="0">
                <a:solidFill>
                  <a:schemeClr val="bg1">
                    <a:lumMod val="65000"/>
                  </a:schemeClr>
                </a:solidFill>
              </a:rPr>
              <a:t>°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</a:rPr>
              <a:t>는 정확하게 맞춤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</a:rPr>
              <a:t>)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</a:rPr>
              <a:t>을 입증하여 성공적인 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</a:rPr>
              <a:t>Lane Keeping 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</a:rPr>
              <a:t>주행이 가능함을 확인하였음</a:t>
            </a:r>
            <a:endParaRPr lang="en-US" altLang="ko-KR" sz="1200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492240"/>
            <a:ext cx="233589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</a:defRPr>
            </a:pPr>
            <a:r>
              <a:rPr lang="ko-KR" altLang="en-US" dirty="0"/>
              <a:t>글로벌시스템융합과 </a:t>
            </a:r>
            <a:r>
              <a:rPr dirty="0"/>
              <a:t>		8 / 10</a:t>
            </a:r>
          </a:p>
        </p:txBody>
      </p:sp>
      <p:cxnSp>
        <p:nvCxnSpPr>
          <p:cNvPr id="8" name="Connector 5">
            <a:extLst>
              <a:ext uri="{FF2B5EF4-FFF2-40B4-BE49-F238E27FC236}">
                <a16:creationId xmlns:a16="http://schemas.microsoft.com/office/drawing/2014/main" id="{4C0F0AAB-C61C-4601-8D92-F929926E7E80}"/>
              </a:ext>
            </a:extLst>
          </p:cNvPr>
          <p:cNvCxnSpPr/>
          <p:nvPr/>
        </p:nvCxnSpPr>
        <p:spPr>
          <a:xfrm>
            <a:off x="457200" y="827425"/>
            <a:ext cx="11274552" cy="0"/>
          </a:xfrm>
          <a:prstGeom prst="line">
            <a:avLst/>
          </a:prstGeom>
          <a:ln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D8D5344-D22B-46F2-8CFF-B433096D095F}"/>
              </a:ext>
            </a:extLst>
          </p:cNvPr>
          <p:cNvSpPr txBox="1"/>
          <p:nvPr/>
        </p:nvSpPr>
        <p:spPr>
          <a:xfrm>
            <a:off x="625151" y="1008519"/>
            <a:ext cx="5334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60A5FA"/>
                </a:solidFill>
                <a:latin typeface="맑은 고딕"/>
              </a:defRPr>
            </a:pPr>
            <a:r>
              <a:rPr lang="ko-KR" altLang="en-US" dirty="0"/>
              <a:t>📈 성능 평가지표 </a:t>
            </a:r>
            <a:r>
              <a:rPr lang="en-US" altLang="ko-KR" dirty="0"/>
              <a:t>(</a:t>
            </a:r>
            <a:r>
              <a:rPr lang="ko-KR" altLang="en-US" dirty="0"/>
              <a:t>전체 데이터의 </a:t>
            </a:r>
            <a:r>
              <a:rPr lang="en-US" altLang="ko-KR" dirty="0"/>
              <a:t>10%, 2664</a:t>
            </a:r>
            <a:r>
              <a:rPr lang="ko-KR" altLang="en-US" dirty="0"/>
              <a:t>장</a:t>
            </a:r>
            <a:r>
              <a:rPr lang="en-US" altLang="ko-KR" dirty="0"/>
              <a:t>)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71C48355-50DF-4CAC-B377-1AD3764D84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690" y="1467506"/>
            <a:ext cx="3554266" cy="294587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8210BB1-24AB-4C18-9411-F613D06D1582}"/>
              </a:ext>
            </a:extLst>
          </p:cNvPr>
          <p:cNvSpPr txBox="1"/>
          <p:nvPr/>
        </p:nvSpPr>
        <p:spPr>
          <a:xfrm>
            <a:off x="1031275" y="4393157"/>
            <a:ext cx="25006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bg1">
                    <a:lumMod val="65000"/>
                  </a:schemeClr>
                </a:solidFill>
              </a:rPr>
              <a:t>혼동 행렬</a:t>
            </a: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C491FEA5-E380-427E-A9F5-EFEA8786E8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4550196"/>
              </p:ext>
            </p:extLst>
          </p:nvPr>
        </p:nvGraphicFramePr>
        <p:xfrm>
          <a:off x="4836129" y="1464207"/>
          <a:ext cx="5334237" cy="2928950"/>
        </p:xfrm>
        <a:graphic>
          <a:graphicData uri="http://schemas.openxmlformats.org/drawingml/2006/table">
            <a:tbl>
              <a:tblPr/>
              <a:tblGrid>
                <a:gridCol w="1778079">
                  <a:extLst>
                    <a:ext uri="{9D8B030D-6E8A-4147-A177-3AD203B41FA5}">
                      <a16:colId xmlns:a16="http://schemas.microsoft.com/office/drawing/2014/main" val="2214635194"/>
                    </a:ext>
                  </a:extLst>
                </a:gridCol>
                <a:gridCol w="1778079">
                  <a:extLst>
                    <a:ext uri="{9D8B030D-6E8A-4147-A177-3AD203B41FA5}">
                      <a16:colId xmlns:a16="http://schemas.microsoft.com/office/drawing/2014/main" val="3616072716"/>
                    </a:ext>
                  </a:extLst>
                </a:gridCol>
                <a:gridCol w="1778079">
                  <a:extLst>
                    <a:ext uri="{9D8B030D-6E8A-4147-A177-3AD203B41FA5}">
                      <a16:colId xmlns:a16="http://schemas.microsoft.com/office/drawing/2014/main" val="651751366"/>
                    </a:ext>
                  </a:extLst>
                </a:gridCol>
              </a:tblGrid>
              <a:tr h="278841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Google Sans Text"/>
                        </a:rPr>
                        <a:t>평가 지표 </a:t>
                      </a:r>
                      <a:r>
                        <a:rPr lang="en-US" altLang="ko-KR" sz="1050" b="1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en-US" sz="1050" b="1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Google Sans Text"/>
                        </a:rPr>
                        <a:t>Metric)</a:t>
                      </a:r>
                      <a:endParaRPr lang="en-US" sz="105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Google Sans Text"/>
                        </a:rPr>
                        <a:t>성능 </a:t>
                      </a:r>
                      <a:r>
                        <a:rPr lang="en-US" altLang="ko-KR" sz="1050" b="1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en-US" sz="1050" b="1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Google Sans Text"/>
                        </a:rPr>
                        <a:t>Score)</a:t>
                      </a:r>
                      <a:endParaRPr lang="en-US" sz="105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Google Sans Text"/>
                        </a:rPr>
                        <a:t>의미</a:t>
                      </a:r>
                      <a:endParaRPr lang="ko-KR" altLang="en-US" sz="105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5005167"/>
                  </a:ext>
                </a:extLst>
              </a:tr>
              <a:tr h="821034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Google Sans Text"/>
                        </a:rPr>
                        <a:t>정확도 </a:t>
                      </a:r>
                      <a:r>
                        <a:rPr lang="en-US" altLang="ko-KR" sz="1050" b="1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en-US" sz="1050" b="1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Google Sans Text"/>
                        </a:rPr>
                        <a:t>Accuracy)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5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Google Sans Text"/>
                        </a:rPr>
                        <a:t>82.77%</a:t>
                      </a:r>
                      <a:endParaRPr lang="ko-KR" altLang="en-US" sz="1050" b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Google Sans Text"/>
                        </a:rPr>
                        <a:t>전체 테스트 상황 중 약 </a:t>
                      </a:r>
                      <a:r>
                        <a:rPr lang="en-US" altLang="ko-KR" sz="1050" b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Google Sans Text"/>
                        </a:rPr>
                        <a:t>83%</a:t>
                      </a:r>
                      <a:r>
                        <a:rPr lang="ko-KR" altLang="en-US" sz="1050" b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Google Sans Text"/>
                        </a:rPr>
                        <a:t> 상황에서 올바른 조향각을 판단함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4359632"/>
                  </a:ext>
                </a:extLst>
              </a:tr>
              <a:tr h="712596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Google Sans Text"/>
                        </a:rPr>
                        <a:t>정밀도 </a:t>
                      </a:r>
                      <a:r>
                        <a:rPr lang="en-US" altLang="ko-KR" sz="1050" b="1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en-US" sz="1050" b="1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Google Sans Text"/>
                        </a:rPr>
                        <a:t>Precision)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5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Google Sans Text"/>
                        </a:rPr>
                        <a:t>83.00%</a:t>
                      </a:r>
                      <a:endParaRPr lang="ko-KR" altLang="en-US" sz="1050" b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Google Sans Text"/>
                        </a:rPr>
                        <a:t>모델이 정답을 예측했을 때 실제로 정답이었던 확률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4432615"/>
                  </a:ext>
                </a:extLst>
              </a:tr>
              <a:tr h="620759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1" dirty="0" err="1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Google Sans Text"/>
                        </a:rPr>
                        <a:t>재현율</a:t>
                      </a:r>
                      <a:r>
                        <a:rPr lang="ko-KR" altLang="en-US" sz="1050" b="1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altLang="ko-KR" sz="1050" b="1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en-US" sz="1050" b="1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Google Sans Text"/>
                        </a:rPr>
                        <a:t>Recall)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5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Google Sans Text"/>
                        </a:rPr>
                        <a:t>83.00%</a:t>
                      </a:r>
                      <a:endParaRPr lang="ko-KR" altLang="en-US" sz="1050" b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Google Sans Text"/>
                        </a:rPr>
                        <a:t>실제 각도 데이터를 모델이 놓치지 않고 찾아낸 확률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5420800"/>
                  </a:ext>
                </a:extLst>
              </a:tr>
              <a:tr h="495720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Google Sans Text"/>
                        </a:rPr>
                        <a:t>F1-Score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50" b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Google Sans Text"/>
                        </a:rPr>
                        <a:t>82.68%</a:t>
                      </a:r>
                      <a:endParaRPr lang="ko-KR" altLang="en-US" sz="1050" b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Google Sans Text"/>
                        </a:rPr>
                        <a:t>정밀도와 재현율의 조화 평균 </a:t>
                      </a:r>
                      <a:endParaRPr lang="en-US" altLang="ko-KR" sz="1050" b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1352814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008C9F09-E7A2-4A4A-8ABA-BF4A286E1137}"/>
              </a:ext>
            </a:extLst>
          </p:cNvPr>
          <p:cNvSpPr txBox="1"/>
          <p:nvPr/>
        </p:nvSpPr>
        <p:spPr>
          <a:xfrm>
            <a:off x="6335792" y="4393157"/>
            <a:ext cx="25006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bg1">
                    <a:lumMod val="65000"/>
                  </a:schemeClr>
                </a:solidFill>
              </a:rPr>
              <a:t>모델 성능 요약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26CA6D5-F9FF-4B95-B2FC-F812A6AC591F}"/>
              </a:ext>
            </a:extLst>
          </p:cNvPr>
          <p:cNvSpPr txBox="1"/>
          <p:nvPr/>
        </p:nvSpPr>
        <p:spPr>
          <a:xfrm>
            <a:off x="551690" y="5057192"/>
            <a:ext cx="15302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60A5FA"/>
                </a:solidFill>
                <a:latin typeface="맑은 고딕"/>
              </a:defRPr>
            </a:pPr>
            <a:r>
              <a:rPr lang="ko-KR" altLang="en-US" sz="1400" dirty="0">
                <a:solidFill>
                  <a:srgbClr val="FFFF00"/>
                </a:solidFill>
              </a:rPr>
              <a:t>🔍</a:t>
            </a:r>
            <a:r>
              <a:rPr lang="ko-KR" altLang="en-US" sz="1400" dirty="0"/>
              <a:t> </a:t>
            </a:r>
            <a:r>
              <a:rPr lang="ko-KR" altLang="en-US" sz="1400" dirty="0">
                <a:solidFill>
                  <a:srgbClr val="FFFF00"/>
                </a:solidFill>
              </a:rPr>
              <a:t>지표 분석</a:t>
            </a:r>
          </a:p>
        </p:txBody>
      </p:sp>
    </p:spTree>
    <p:extLst>
      <p:ext uri="{BB962C8B-B14F-4D97-AF65-F5344CB8AC3E}">
        <p14:creationId xmlns:p14="http://schemas.microsoft.com/office/powerpoint/2010/main" val="37958954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272542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rPr sz="2400" dirty="0">
                <a:solidFill>
                  <a:schemeClr val="bg1">
                    <a:lumMod val="75000"/>
                  </a:schemeClr>
                </a:solidFill>
              </a:rPr>
              <a:t>8. </a:t>
            </a:r>
            <a:r>
              <a:rPr sz="2400" dirty="0" err="1">
                <a:solidFill>
                  <a:schemeClr val="bg1">
                    <a:lumMod val="75000"/>
                  </a:schemeClr>
                </a:solidFill>
              </a:rPr>
              <a:t>결론</a:t>
            </a:r>
            <a:r>
              <a:rPr sz="2400" dirty="0">
                <a:solidFill>
                  <a:schemeClr val="bg1">
                    <a:lumMod val="75000"/>
                  </a:schemeClr>
                </a:solidFill>
              </a:rPr>
              <a:t> 및 </a:t>
            </a:r>
            <a:r>
              <a:rPr sz="2400" dirty="0" err="1">
                <a:solidFill>
                  <a:schemeClr val="bg1">
                    <a:lumMod val="75000"/>
                  </a:schemeClr>
                </a:solidFill>
              </a:rPr>
              <a:t>배운</a:t>
            </a:r>
            <a:r>
              <a:rPr sz="2400" dirty="0">
                <a:solidFill>
                  <a:schemeClr val="bg1">
                    <a:lumMod val="75000"/>
                  </a:schemeClr>
                </a:solidFill>
              </a:rPr>
              <a:t> 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10360152" cy="4572000"/>
          </a:xfrm>
          <a:prstGeom prst="roundRect">
            <a:avLst/>
          </a:prstGeom>
          <a:solidFill>
            <a:srgbClr val="2A2A2A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457200" rtlCol="0" anchor="ctr"/>
          <a:lstStyle/>
          <a:p>
            <a:pPr algn="ctr">
              <a:defRPr sz="2000" b="1">
                <a:solidFill>
                  <a:srgbClr val="60A5FA"/>
                </a:solidFill>
              </a:defRPr>
            </a:pPr>
            <a:r>
              <a:rPr dirty="0"/>
              <a:t>💡 </a:t>
            </a:r>
            <a:r>
              <a:rPr dirty="0" err="1"/>
              <a:t>데이터의</a:t>
            </a:r>
            <a:r>
              <a:rPr dirty="0"/>
              <a:t> '</a:t>
            </a:r>
            <a:r>
              <a:rPr dirty="0" err="1"/>
              <a:t>질'과</a:t>
            </a:r>
            <a:r>
              <a:rPr dirty="0"/>
              <a:t> '</a:t>
            </a:r>
            <a:r>
              <a:rPr dirty="0" err="1"/>
              <a:t>균형'의</a:t>
            </a:r>
            <a:r>
              <a:rPr dirty="0"/>
              <a:t> </a:t>
            </a:r>
            <a:r>
              <a:rPr dirty="0" err="1"/>
              <a:t>중요성</a:t>
            </a:r>
            <a:endParaRPr dirty="0"/>
          </a:p>
          <a:p>
            <a:pPr>
              <a:defRPr sz="1600">
                <a:solidFill>
                  <a:srgbClr val="E0E0E0"/>
                </a:solidFill>
              </a:defRPr>
            </a:pPr>
            <a:r>
              <a:rPr dirty="0"/>
              <a:t>   - </a:t>
            </a:r>
            <a:r>
              <a:rPr dirty="0" err="1"/>
              <a:t>단순히</a:t>
            </a:r>
            <a:r>
              <a:rPr dirty="0"/>
              <a:t> </a:t>
            </a:r>
            <a:r>
              <a:rPr dirty="0" err="1"/>
              <a:t>많은</a:t>
            </a:r>
            <a:r>
              <a:rPr dirty="0"/>
              <a:t> </a:t>
            </a:r>
            <a:r>
              <a:rPr dirty="0" err="1"/>
              <a:t>양보다</a:t>
            </a:r>
            <a:r>
              <a:rPr dirty="0"/>
              <a:t> </a:t>
            </a:r>
            <a:r>
              <a:rPr dirty="0" err="1"/>
              <a:t>클래스</a:t>
            </a:r>
            <a:r>
              <a:rPr dirty="0"/>
              <a:t>(</a:t>
            </a:r>
            <a:r>
              <a:rPr dirty="0" err="1"/>
              <a:t>각도</a:t>
            </a:r>
            <a:r>
              <a:rPr dirty="0"/>
              <a:t>) </a:t>
            </a:r>
            <a:r>
              <a:rPr dirty="0" err="1"/>
              <a:t>간의</a:t>
            </a:r>
            <a:r>
              <a:rPr dirty="0"/>
              <a:t> </a:t>
            </a:r>
            <a:r>
              <a:rPr dirty="0" err="1"/>
              <a:t>균형이</a:t>
            </a:r>
            <a:r>
              <a:rPr dirty="0"/>
              <a:t> </a:t>
            </a:r>
            <a:r>
              <a:rPr dirty="0" err="1"/>
              <a:t>핵심</a:t>
            </a:r>
            <a:br>
              <a:rPr dirty="0"/>
            </a:br>
            <a:br>
              <a:rPr dirty="0"/>
            </a:br>
            <a:endParaRPr dirty="0"/>
          </a:p>
          <a:p>
            <a:pPr algn="ctr">
              <a:spcBef>
                <a:spcPts val="4000"/>
              </a:spcBef>
              <a:defRPr sz="1800" b="1">
                <a:solidFill>
                  <a:srgbClr val="FFFFFF"/>
                </a:solidFill>
              </a:defRPr>
            </a:pPr>
            <a:endParaRPr lang="en-US" altLang="ko-KR" dirty="0"/>
          </a:p>
          <a:p>
            <a:pPr algn="ctr">
              <a:spcBef>
                <a:spcPts val="4000"/>
              </a:spcBef>
              <a:defRPr sz="1800" b="1">
                <a:solidFill>
                  <a:srgbClr val="FFFFFF"/>
                </a:solidFill>
              </a:defRPr>
            </a:pPr>
            <a:endParaRPr lang="en-US" altLang="ko-KR" dirty="0"/>
          </a:p>
        </p:txBody>
      </p:sp>
      <p:cxnSp>
        <p:nvCxnSpPr>
          <p:cNvPr id="5" name="Connector 4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92240"/>
            <a:ext cx="233589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</a:defRPr>
            </a:pPr>
            <a:r>
              <a:rPr lang="ko-KR" altLang="en-US" dirty="0"/>
              <a:t>글로벌시스템융합과 </a:t>
            </a:r>
            <a:r>
              <a:rPr dirty="0"/>
              <a:t>		9 / 10</a:t>
            </a:r>
          </a:p>
        </p:txBody>
      </p:sp>
      <p:cxnSp>
        <p:nvCxnSpPr>
          <p:cNvPr id="7" name="Connector 5">
            <a:extLst>
              <a:ext uri="{FF2B5EF4-FFF2-40B4-BE49-F238E27FC236}">
                <a16:creationId xmlns:a16="http://schemas.microsoft.com/office/drawing/2014/main" id="{B93B6E20-D0AB-425D-A8BF-C7D8E9B689EE}"/>
              </a:ext>
            </a:extLst>
          </p:cNvPr>
          <p:cNvCxnSpPr/>
          <p:nvPr/>
        </p:nvCxnSpPr>
        <p:spPr>
          <a:xfrm>
            <a:off x="457200" y="827425"/>
            <a:ext cx="11274552" cy="0"/>
          </a:xfrm>
          <a:prstGeom prst="line">
            <a:avLst/>
          </a:prstGeom>
          <a:ln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6CD12B6E-914E-4BEF-9ECE-50CD3EC7E2B2}"/>
              </a:ext>
            </a:extLst>
          </p:cNvPr>
          <p:cNvSpPr/>
          <p:nvPr/>
        </p:nvSpPr>
        <p:spPr>
          <a:xfrm>
            <a:off x="1586204" y="2090057"/>
            <a:ext cx="8770776" cy="1338943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84DCEFC-97B1-4B16-8085-04A3258D1314}"/>
              </a:ext>
            </a:extLst>
          </p:cNvPr>
          <p:cNvSpPr/>
          <p:nvPr/>
        </p:nvSpPr>
        <p:spPr>
          <a:xfrm>
            <a:off x="1625148" y="2090057"/>
            <a:ext cx="8770776" cy="1338943"/>
          </a:xfrm>
          <a:prstGeom prst="round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b="1" dirty="0"/>
          </a:p>
          <a:p>
            <a:r>
              <a:rPr lang="ko-KR" altLang="en-US" b="1" dirty="0">
                <a:solidFill>
                  <a:srgbClr val="FFFF00"/>
                </a:solidFill>
              </a:rPr>
              <a:t>💡</a:t>
            </a:r>
            <a:r>
              <a:rPr lang="ko-KR" altLang="en-US" b="1" dirty="0"/>
              <a:t> 데이터의 </a:t>
            </a:r>
            <a:r>
              <a:rPr lang="en-US" altLang="ko-KR" b="1" dirty="0"/>
              <a:t>'</a:t>
            </a:r>
            <a:r>
              <a:rPr lang="ko-KR" altLang="en-US" b="1" dirty="0"/>
              <a:t>질</a:t>
            </a:r>
            <a:r>
              <a:rPr lang="en-US" altLang="ko-KR" b="1" dirty="0"/>
              <a:t>'</a:t>
            </a:r>
            <a:r>
              <a:rPr lang="ko-KR" altLang="en-US" b="1" dirty="0"/>
              <a:t>과 </a:t>
            </a:r>
            <a:r>
              <a:rPr lang="en-US" altLang="ko-KR" b="1" dirty="0"/>
              <a:t>'</a:t>
            </a:r>
            <a:r>
              <a:rPr lang="ko-KR" altLang="en-US" b="1" dirty="0"/>
              <a:t>균형</a:t>
            </a:r>
            <a:r>
              <a:rPr lang="en-US" altLang="ko-KR" b="1" dirty="0"/>
              <a:t>'</a:t>
            </a:r>
            <a:r>
              <a:rPr lang="ko-KR" altLang="en-US" b="1" dirty="0"/>
              <a:t>의 중요성</a:t>
            </a:r>
            <a:endParaRPr lang="en-US" altLang="ko-KR" b="1" dirty="0"/>
          </a:p>
          <a:p>
            <a:endParaRPr lang="ko-KR" altLang="en-US" sz="1200" b="1" dirty="0"/>
          </a:p>
          <a:p>
            <a:r>
              <a:rPr lang="ko-KR" altLang="en-US" sz="1400" dirty="0"/>
              <a:t>단순히 데이터를 많이 모으는 것보다</a:t>
            </a:r>
            <a:r>
              <a:rPr lang="en-US" altLang="ko-KR" sz="1400" dirty="0"/>
              <a:t>, </a:t>
            </a:r>
            <a:r>
              <a:rPr lang="ko-KR" altLang="en-US" sz="1400" b="1" dirty="0"/>
              <a:t>클래스</a:t>
            </a:r>
            <a:r>
              <a:rPr lang="en-US" altLang="ko-KR" sz="1400" b="1" dirty="0"/>
              <a:t>(</a:t>
            </a:r>
            <a:r>
              <a:rPr lang="ko-KR" altLang="en-US" sz="1400" b="1" dirty="0"/>
              <a:t>각도</a:t>
            </a:r>
            <a:r>
              <a:rPr lang="en-US" altLang="ko-KR" sz="1400" b="1" dirty="0"/>
              <a:t>) </a:t>
            </a:r>
            <a:r>
              <a:rPr lang="ko-KR" altLang="en-US" sz="1400" b="1" dirty="0"/>
              <a:t>간의 균형</a:t>
            </a:r>
            <a:r>
              <a:rPr lang="ko-KR" altLang="en-US" sz="1400" dirty="0"/>
              <a:t>을 맞추는 것이 모델 성능에 결정적인 영향을 미친다는 것을 </a:t>
            </a:r>
            <a:r>
              <a:rPr lang="en-US" altLang="ko-KR" sz="1400" dirty="0"/>
              <a:t>3</a:t>
            </a:r>
            <a:r>
              <a:rPr lang="ko-KR" altLang="en-US" sz="1400" dirty="0"/>
              <a:t>번의 시행착오를 통해 체득함</a:t>
            </a:r>
            <a:endParaRPr lang="en-US" altLang="ko-KR" sz="1400" dirty="0"/>
          </a:p>
          <a:p>
            <a:pPr algn="ctr"/>
            <a:endParaRPr lang="ko-KR" altLang="en-US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6275826-82ED-407D-813D-AD0AE02D43C5}"/>
              </a:ext>
            </a:extLst>
          </p:cNvPr>
          <p:cNvSpPr/>
          <p:nvPr/>
        </p:nvSpPr>
        <p:spPr>
          <a:xfrm>
            <a:off x="1586204" y="3641736"/>
            <a:ext cx="8770776" cy="1338943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912E2CD3-02A9-411D-8352-BA6335A584C1}"/>
              </a:ext>
            </a:extLst>
          </p:cNvPr>
          <p:cNvSpPr/>
          <p:nvPr/>
        </p:nvSpPr>
        <p:spPr>
          <a:xfrm>
            <a:off x="1625148" y="3641736"/>
            <a:ext cx="8770776" cy="1338943"/>
          </a:xfrm>
          <a:prstGeom prst="round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b="1" dirty="0"/>
          </a:p>
          <a:p>
            <a:r>
              <a:rPr lang="ko-KR" altLang="en-US" b="1" dirty="0">
                <a:solidFill>
                  <a:schemeClr val="accent1"/>
                </a:solidFill>
              </a:rPr>
              <a:t>🔍</a:t>
            </a:r>
            <a:r>
              <a:rPr lang="ko-KR" altLang="en-US" b="1" dirty="0"/>
              <a:t> 올바른 데이터 증강</a:t>
            </a:r>
            <a:endParaRPr lang="en-US" altLang="ko-KR" b="1" dirty="0"/>
          </a:p>
          <a:p>
            <a:endParaRPr lang="en-US" altLang="ko-KR" sz="1200" b="1" dirty="0"/>
          </a:p>
          <a:p>
            <a:r>
              <a:rPr lang="ko-KR" altLang="en-US" sz="1400" dirty="0"/>
              <a:t>현실 세계의 물리적 특성</a:t>
            </a:r>
            <a:r>
              <a:rPr lang="en-US" altLang="ko-KR" sz="1400" dirty="0"/>
              <a:t>(</a:t>
            </a:r>
            <a:r>
              <a:rPr lang="ko-KR" altLang="en-US" sz="1400" dirty="0"/>
              <a:t>조명</a:t>
            </a:r>
            <a:r>
              <a:rPr lang="en-US" altLang="ko-KR" sz="1400" dirty="0"/>
              <a:t>, </a:t>
            </a:r>
            <a:r>
              <a:rPr lang="ko-KR" altLang="en-US" sz="1400" dirty="0"/>
              <a:t>배경 등</a:t>
            </a:r>
            <a:r>
              <a:rPr lang="en-US" altLang="ko-KR" sz="1400" dirty="0"/>
              <a:t>)</a:t>
            </a:r>
            <a:r>
              <a:rPr lang="ko-KR" altLang="en-US" sz="1400" dirty="0"/>
              <a:t>을 고려하지 않은 기계적인 데이터 증강은 오히려 모델 성능을 떨어뜨릴 수 있음을 확인함</a:t>
            </a:r>
            <a:endParaRPr lang="en-US" altLang="ko-KR" sz="1400" dirty="0"/>
          </a:p>
          <a:p>
            <a:pPr algn="ctr"/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23C975-EAC9-4852-B9CC-F2BEB7A9B50B}"/>
              </a:ext>
            </a:extLst>
          </p:cNvPr>
          <p:cNvSpPr txBox="1"/>
          <p:nvPr/>
        </p:nvSpPr>
        <p:spPr>
          <a:xfrm>
            <a:off x="3293706" y="5103845"/>
            <a:ext cx="55703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bg1">
                    <a:lumMod val="65000"/>
                  </a:schemeClr>
                </a:solidFill>
              </a:rPr>
              <a:t>프로젝트를 통해 </a:t>
            </a:r>
            <a:r>
              <a:rPr lang="en-US" altLang="ko-KR" sz="1400" dirty="0">
                <a:solidFill>
                  <a:schemeClr val="bg1">
                    <a:lumMod val="65000"/>
                  </a:schemeClr>
                </a:solidFill>
              </a:rPr>
              <a:t>AI </a:t>
            </a:r>
            <a:r>
              <a:rPr lang="ko-KR" altLang="en-US" sz="1400" dirty="0">
                <a:solidFill>
                  <a:schemeClr val="bg1">
                    <a:lumMod val="65000"/>
                  </a:schemeClr>
                </a:solidFill>
              </a:rPr>
              <a:t>모델 학습의 전체 파이프라인을 경험하고</a:t>
            </a:r>
            <a:r>
              <a:rPr lang="en-US" altLang="ko-KR" sz="1400" dirty="0">
                <a:solidFill>
                  <a:schemeClr val="bg1">
                    <a:lumMod val="65000"/>
                  </a:schemeClr>
                </a:solidFill>
              </a:rPr>
              <a:t>,</a:t>
            </a:r>
          </a:p>
          <a:p>
            <a:pPr algn="ctr"/>
            <a:r>
              <a:rPr lang="ko-KR" altLang="en-US" sz="1400" dirty="0">
                <a:solidFill>
                  <a:schemeClr val="bg1">
                    <a:lumMod val="65000"/>
                  </a:schemeClr>
                </a:solidFill>
              </a:rPr>
              <a:t>자율 주행의 기초 원리를 성공적으로 구현</a:t>
            </a:r>
            <a:endParaRPr lang="en-US" altLang="ko-KR" sz="14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079911" y="2692569"/>
            <a:ext cx="4031873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rPr dirty="0" err="1"/>
              <a:t>감사합니다</a:t>
            </a:r>
            <a:endParaRPr dirty="0"/>
          </a:p>
        </p:txBody>
      </p:sp>
      <p:cxnSp>
        <p:nvCxnSpPr>
          <p:cNvPr id="4" name="Connector 3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92240"/>
            <a:ext cx="2401619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</a:defRPr>
            </a:pPr>
            <a:r>
              <a:rPr lang="ko-KR" altLang="en-US" dirty="0"/>
              <a:t>글로벌시스템융합과 </a:t>
            </a:r>
            <a:r>
              <a:rPr dirty="0"/>
              <a:t>		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</TotalTime>
  <Words>906</Words>
  <Application>Microsoft Office PowerPoint</Application>
  <PresentationFormat>와이드스크린</PresentationFormat>
  <Paragraphs>176</Paragraphs>
  <Slides>10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5" baseType="lpstr">
      <vt:lpstr>Google Sans Text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USER</dc:creator>
  <cp:keywords/>
  <dc:description>generated using python-pptx</dc:description>
  <cp:lastModifiedBy>USER</cp:lastModifiedBy>
  <cp:revision>23</cp:revision>
  <dcterms:created xsi:type="dcterms:W3CDTF">2013-01-27T09:14:16Z</dcterms:created>
  <dcterms:modified xsi:type="dcterms:W3CDTF">2025-12-12T07:30:13Z</dcterms:modified>
  <cp:category/>
</cp:coreProperties>
</file>