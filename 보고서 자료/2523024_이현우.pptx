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A5FA"/>
    <a:srgbClr val="39CD05"/>
    <a:srgbClr val="E8F945"/>
    <a:srgbClr val="4D7AB2"/>
    <a:srgbClr val="415F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132" y="11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"/>
          <c:y val="8.0053490000259311E-2"/>
          <c:w val="0.96252259676822449"/>
          <c:h val="0.82103636215732534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>
              <a:softEdge rad="0"/>
            </a:effectLst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600" b="1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Train</a:t>
                    </a:r>
                    <a:r>
                      <a:rPr lang="en-US" altLang="ko-KR" sz="1600" b="1" baseline="0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 (</a:t>
                    </a:r>
                    <a:fld id="{20EBEBB7-C129-4454-ACBD-592DDF7E878E}" type="VALUE">
                      <a:rPr lang="en-US" altLang="ko-KR" sz="1600" b="1" smtClean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/>
                      <a:t>[값]</a:t>
                    </a:fld>
                    <a:r>
                      <a:rPr lang="en-US" altLang="ko-KR" sz="1600" b="1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B4E5-4C39-9CBC-DC3232EBDD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Sheet1!$B$2</c:f>
              <c:numCache>
                <c:formatCode>0%</c:formatCode>
                <c:ptCount val="1"/>
                <c:pt idx="0">
                  <c:v>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E5-4C39-9CBC-DC3232EBDD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</c:v>
                </c:pt>
              </c:strCache>
            </c:strRef>
          </c:tx>
          <c:spPr>
            <a:solidFill>
              <a:schemeClr val="accent3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600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Val (</a:t>
                    </a:r>
                    <a:fld id="{284DAA61-6110-40D7-A23B-10221D489B8C}" type="VALUE">
                      <a:rPr lang="en-US" altLang="ko-KR" sz="1600" smtClean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/>
                      <a:t>[값]</a:t>
                    </a:fld>
                    <a:r>
                      <a:rPr lang="en-US" altLang="ko-KR" sz="1600" dirty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B4E5-4C39-9CBC-DC3232EBDD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Sheet1!$C$2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4E5-4C39-9CBC-DC3232EBDD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ko-KR" sz="160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Test (</a:t>
                    </a:r>
                    <a:fld id="{B0FC3AF4-25F6-4DA8-B731-A883960171D3}" type="VALUE">
                      <a:rPr lang="en-US" altLang="ko-KR" sz="1600" smtClean="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pPr/>
                      <a:t>[값]</a:t>
                    </a:fld>
                    <a:r>
                      <a:rPr lang="en-US" altLang="ko-KR" sz="1600">
                        <a:solidFill>
                          <a:schemeClr val="bg1">
                            <a:lumMod val="85000"/>
                          </a:schemeClr>
                        </a:solidFill>
                      </a:rPr>
                      <a:t>)</a:t>
                    </a:r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B4E5-4C39-9CBC-DC3232EBDD2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항목 1</c:v>
                </c:pt>
              </c:strCache>
            </c:strRef>
          </c:cat>
          <c:val>
            <c:numRef>
              <c:f>Sheet1!$D$2</c:f>
              <c:numCache>
                <c:formatCode>0%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E5-4C39-9CBC-DC3232EBDD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755416351"/>
        <c:axId val="1642177599"/>
      </c:barChart>
      <c:catAx>
        <c:axId val="175541635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642177599"/>
        <c:crosses val="autoZero"/>
        <c:auto val="1"/>
        <c:lblAlgn val="ctr"/>
        <c:lblOffset val="100"/>
        <c:noMultiLvlLbl val="0"/>
      </c:catAx>
      <c:valAx>
        <c:axId val="1642177599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1755416351"/>
        <c:crosses val="autoZero"/>
        <c:crossBetween val="between"/>
      </c:valAx>
      <c:spPr>
        <a:solidFill>
          <a:srgbClr val="1A1A1A"/>
        </a:solidFill>
        <a:ln>
          <a:noFill/>
        </a:ln>
        <a:effectLst>
          <a:softEdge rad="673100"/>
        </a:effectLst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softEdge rad="0"/>
    </a:effectLst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76977-29F3-4216-8D48-1840780CAD48}" type="datetimeFigureOut">
              <a:rPr lang="ko-KR" altLang="en-US" smtClean="0"/>
              <a:t>2025-12-09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4494B-40B7-402D-808A-28AAB52F8D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84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6494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43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6493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4494B-40B7-402D-808A-28AAB52F8DB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866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50169" y="2241163"/>
            <a:ext cx="5891357" cy="19184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0A5FA"/>
                </a:solidFill>
              </a:defRPr>
            </a:pPr>
            <a:r>
              <a:rPr dirty="0"/>
              <a:t>CAPSTONE DESIGN</a:t>
            </a:r>
          </a:p>
          <a:p>
            <a:pPr algn="ctr">
              <a:spcBef>
                <a:spcPts val="2000"/>
              </a:spcBef>
              <a:defRPr sz="2000">
                <a:solidFill>
                  <a:srgbClr val="888888"/>
                </a:solidFill>
              </a:defRPr>
            </a:pPr>
            <a:r>
              <a:rPr lang="ko-KR" altLang="en-US" sz="3200" dirty="0">
                <a:solidFill>
                  <a:schemeClr val="bg1">
                    <a:lumMod val="75000"/>
                  </a:schemeClr>
                </a:solidFill>
              </a:rPr>
              <a:t>자율주행 자동차 제작 결과 보고</a:t>
            </a:r>
            <a:endParaRPr lang="en-US" altLang="ko-KR" sz="3200" dirty="0">
              <a:solidFill>
                <a:schemeClr val="bg1">
                  <a:lumMod val="75000"/>
                </a:schemeClr>
              </a:solidFill>
            </a:endParaRPr>
          </a:p>
          <a:p>
            <a:pPr algn="ctr"/>
            <a:br>
              <a:rPr dirty="0"/>
            </a:b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2523024</a:t>
            </a:r>
            <a:br>
              <a:rPr dirty="0">
                <a:solidFill>
                  <a:schemeClr val="bg1">
                    <a:lumMod val="75000"/>
                  </a:schemeClr>
                </a:solidFill>
              </a:rPr>
            </a:b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이현우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4" name="Connector 3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</a:t>
            </a:r>
            <a:r>
              <a:rPr dirty="0"/>
              <a:t>		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487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1.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하드웨어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구성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제작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69166" y="1654850"/>
            <a:ext cx="5374433" cy="3831551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6217920" y="1654850"/>
            <a:ext cx="5486400" cy="3831551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2 / 10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F2062A58-C92B-4FFD-B2CD-A2F4DD96D24E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88B9855-8AE7-4C06-A4FE-8035CF28CC65}"/>
              </a:ext>
            </a:extLst>
          </p:cNvPr>
          <p:cNvSpPr txBox="1"/>
          <p:nvPr/>
        </p:nvSpPr>
        <p:spPr>
          <a:xfrm>
            <a:off x="6217920" y="1202516"/>
            <a:ext cx="236624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dirty="0">
                <a:solidFill>
                  <a:srgbClr val="C00000"/>
                </a:solidFill>
              </a:rPr>
              <a:t>🚗</a:t>
            </a:r>
            <a:r>
              <a:rPr lang="ko-KR" altLang="en-US" dirty="0"/>
              <a:t> 실제 제작 결과물</a:t>
            </a:r>
          </a:p>
          <a:p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9F1D2E-5204-4F3B-BABD-6A8DC114F728}"/>
              </a:ext>
            </a:extLst>
          </p:cNvPr>
          <p:cNvSpPr txBox="1"/>
          <p:nvPr/>
        </p:nvSpPr>
        <p:spPr>
          <a:xfrm>
            <a:off x="457200" y="1193185"/>
            <a:ext cx="2366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dirty="0">
                <a:solidFill>
                  <a:srgbClr val="C00000"/>
                </a:solidFill>
              </a:rPr>
              <a:t>📌</a:t>
            </a:r>
            <a:r>
              <a:rPr lang="ko-KR" altLang="en-US" dirty="0"/>
              <a:t> 초기 구상 도식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FC6E34-06CF-4B16-9094-6B28F47A0EA4}"/>
              </a:ext>
            </a:extLst>
          </p:cNvPr>
          <p:cNvSpPr txBox="1"/>
          <p:nvPr/>
        </p:nvSpPr>
        <p:spPr>
          <a:xfrm>
            <a:off x="569166" y="5645020"/>
            <a:ext cx="49545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• Jetson Nano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개발 보드 활용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•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카메라 모듈을 통한 전방 라인 인식</a:t>
            </a:r>
          </a:p>
          <a:p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EB04A8-67C0-40BF-AC85-9B75ADB16DCB}"/>
              </a:ext>
            </a:extLst>
          </p:cNvPr>
          <p:cNvSpPr txBox="1"/>
          <p:nvPr/>
        </p:nvSpPr>
        <p:spPr>
          <a:xfrm>
            <a:off x="6217920" y="5645020"/>
            <a:ext cx="49545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• </a:t>
            </a:r>
            <a:r>
              <a:rPr lang="ko-KR" altLang="en-US" dirty="0" err="1">
                <a:solidFill>
                  <a:schemeClr val="bg1">
                    <a:lumMod val="75000"/>
                  </a:schemeClr>
                </a:solidFill>
              </a:rPr>
              <a:t>구동계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lang="ko-KR" altLang="en-US" dirty="0" err="1">
                <a:solidFill>
                  <a:schemeClr val="bg1">
                    <a:lumMod val="75000"/>
                  </a:schemeClr>
                </a:solidFill>
              </a:rPr>
              <a:t>조향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 장치 조립 완료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>
                <a:solidFill>
                  <a:schemeClr val="bg1">
                    <a:lumMod val="75000"/>
                  </a:schemeClr>
                </a:solidFill>
              </a:rPr>
              <a:t>• </a:t>
            </a:r>
            <a:r>
              <a:rPr lang="ko-KR" altLang="en-US" dirty="0">
                <a:solidFill>
                  <a:schemeClr val="bg1">
                    <a:lumMod val="75000"/>
                  </a:schemeClr>
                </a:solidFill>
              </a:rPr>
              <a:t>배터리 및 센서 안정화 작업</a:t>
            </a:r>
          </a:p>
          <a:p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616D703-BCD1-47B4-AA68-992DA28CA4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690" y="1816188"/>
            <a:ext cx="4615031" cy="350887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028CBEFC-740F-4947-93B0-4AE9078E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7205982" y="1278897"/>
            <a:ext cx="3511571" cy="458076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681090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2.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프로세스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데이터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전략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18288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FFFF00"/>
                </a:solidFill>
              </a:rPr>
              <a:t>📷</a:t>
            </a:r>
            <a:r>
              <a:rPr dirty="0"/>
              <a:t> </a:t>
            </a:r>
            <a:endParaRPr lang="en-US" altLang="ko-KR" dirty="0"/>
          </a:p>
          <a:p>
            <a:pPr algn="ctr">
              <a:defRPr sz="1600" b="1">
                <a:solidFill>
                  <a:srgbClr val="FFFFFF"/>
                </a:solidFill>
              </a:defRPr>
            </a:pPr>
            <a:endParaRPr lang="en-US" altLang="ko-KR" sz="1050" dirty="0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데이터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수집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rPr dirty="0"/>
              <a:t>Joystick </a:t>
            </a:r>
            <a:r>
              <a:rPr dirty="0" err="1"/>
              <a:t>조종</a:t>
            </a:r>
            <a:r>
              <a:rPr dirty="0"/>
              <a:t> &amp; </a:t>
            </a:r>
            <a:r>
              <a:rPr dirty="0" err="1"/>
              <a:t>촬영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297680" y="1371600"/>
            <a:ext cx="3657600" cy="18288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sz="2400" dirty="0">
                <a:solidFill>
                  <a:srgbClr val="00B050"/>
                </a:solidFill>
              </a:rPr>
              <a:t>🧠 </a:t>
            </a:r>
            <a:endParaRPr lang="en-US" altLang="ko-KR" sz="2400" dirty="0">
              <a:solidFill>
                <a:srgbClr val="00B050"/>
              </a:solidFill>
            </a:endParaRPr>
          </a:p>
          <a:p>
            <a:pPr algn="ctr">
              <a:defRPr sz="1600" b="1">
                <a:solidFill>
                  <a:srgbClr val="FFFFFF"/>
                </a:solidFill>
              </a:defRPr>
            </a:pPr>
            <a:endParaRPr lang="en-US" altLang="ko-KR" sz="1000" dirty="0"/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모델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학습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(CNN)</a:t>
            </a: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rPr dirty="0"/>
              <a:t>ResNet-18 / Epoch 50+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371600"/>
            <a:ext cx="3657600" cy="18288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lang="ko-KR" altLang="en-US" sz="2400" dirty="0">
                <a:solidFill>
                  <a:srgbClr val="00B0F0"/>
                </a:solidFill>
              </a:rPr>
              <a:t>🚗</a:t>
            </a:r>
            <a:r>
              <a:rPr lang="ko-KR" altLang="en-US" dirty="0">
                <a:solidFill>
                  <a:srgbClr val="C00000"/>
                </a:solidFill>
              </a:rPr>
              <a:t> </a:t>
            </a:r>
            <a:endParaRPr lang="en-US" altLang="ko-KR" dirty="0">
              <a:solidFill>
                <a:srgbClr val="C00000"/>
              </a:solidFill>
            </a:endParaRPr>
          </a:p>
          <a:p>
            <a:pPr algn="ctr">
              <a:defRPr sz="1600" b="1">
                <a:solidFill>
                  <a:srgbClr val="FFFFFF"/>
                </a:solidFill>
              </a:defRPr>
            </a:pPr>
            <a:endParaRPr lang="en-US" altLang="ko-KR" sz="1000" dirty="0">
              <a:solidFill>
                <a:srgbClr val="C00000"/>
              </a:solidFill>
            </a:endParaRPr>
          </a:p>
          <a:p>
            <a:pPr algn="ctr">
              <a:defRPr sz="1600" b="1">
                <a:solidFill>
                  <a:srgbClr val="FFFFFF"/>
                </a:solidFill>
              </a:defRPr>
            </a:pP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자율</a:t>
            </a:r>
            <a:r>
              <a:rPr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85000"/>
                  </a:schemeClr>
                </a:solidFill>
              </a:rPr>
              <a:t>주행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  <a:p>
            <a:pPr algn="ctr">
              <a:defRPr sz="1200">
                <a:solidFill>
                  <a:srgbClr val="888888"/>
                </a:solidFill>
              </a:defRPr>
            </a:pPr>
            <a:r>
              <a:rPr dirty="0" err="1"/>
              <a:t>실시간</a:t>
            </a:r>
            <a:r>
              <a:rPr dirty="0"/>
              <a:t> </a:t>
            </a:r>
            <a:r>
              <a:rPr dirty="0" err="1"/>
              <a:t>제어</a:t>
            </a:r>
            <a:endParaRPr dirty="0"/>
          </a:p>
        </p:txBody>
      </p:sp>
      <p:cxnSp>
        <p:nvCxnSpPr>
          <p:cNvPr id="8" name="Connector 7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3 / 10</a:t>
            </a:r>
          </a:p>
        </p:txBody>
      </p:sp>
      <p:cxnSp>
        <p:nvCxnSpPr>
          <p:cNvPr id="10" name="Connector 5">
            <a:extLst>
              <a:ext uri="{FF2B5EF4-FFF2-40B4-BE49-F238E27FC236}">
                <a16:creationId xmlns:a16="http://schemas.microsoft.com/office/drawing/2014/main" id="{B9680A0E-ACF2-439D-BC0A-9D77F2CAA7BD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차트 17">
            <a:extLst>
              <a:ext uri="{FF2B5EF4-FFF2-40B4-BE49-F238E27FC236}">
                <a16:creationId xmlns:a16="http://schemas.microsoft.com/office/drawing/2014/main" id="{795EB13C-5B98-4992-8AAB-BE81D609A5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9149033"/>
              </p:ext>
            </p:extLst>
          </p:nvPr>
        </p:nvGraphicFramePr>
        <p:xfrm>
          <a:off x="540042" y="3816228"/>
          <a:ext cx="11651958" cy="1079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C9B7C1EF-D4BD-4F8D-B597-9187EE87DC30}"/>
              </a:ext>
            </a:extLst>
          </p:cNvPr>
          <p:cNvSpPr txBox="1"/>
          <p:nvPr/>
        </p:nvSpPr>
        <p:spPr>
          <a:xfrm>
            <a:off x="457200" y="3652936"/>
            <a:ext cx="3482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60A5FA"/>
                </a:solidFill>
              </a:rPr>
              <a:t>📊 데이터셋 분할 비율 </a:t>
            </a:r>
            <a:r>
              <a:rPr lang="en-US" altLang="ko-KR" b="1" dirty="0">
                <a:solidFill>
                  <a:srgbClr val="60A5FA"/>
                </a:solidFill>
              </a:rPr>
              <a:t>(7 : 2 : 1)</a:t>
            </a:r>
          </a:p>
          <a:p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9E6AA8-B7FF-4B13-8538-2805292BC347}"/>
              </a:ext>
            </a:extLst>
          </p:cNvPr>
          <p:cNvSpPr txBox="1"/>
          <p:nvPr/>
        </p:nvSpPr>
        <p:spPr>
          <a:xfrm>
            <a:off x="540043" y="4987495"/>
            <a:ext cx="3399779" cy="10618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dirty="0"/>
              <a:t>• Train (70%): </a:t>
            </a:r>
            <a:r>
              <a:rPr lang="ko-KR" altLang="en-US" sz="1200" dirty="0"/>
              <a:t>모델 학습용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dirty="0"/>
              <a:t>• Val (20%): </a:t>
            </a:r>
            <a:r>
              <a:rPr lang="ko-KR" altLang="en-US" sz="1200" dirty="0" err="1"/>
              <a:t>과적합</a:t>
            </a:r>
            <a:r>
              <a:rPr lang="ko-KR" altLang="en-US" sz="1200" dirty="0"/>
              <a:t> 방지 및 최적 모델 저장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dirty="0"/>
              <a:t>• Test (10%): </a:t>
            </a:r>
            <a:r>
              <a:rPr lang="ko-KR" altLang="en-US" sz="1200" dirty="0"/>
              <a:t>객관적 성능 평가용 </a:t>
            </a:r>
            <a:r>
              <a:rPr lang="en-US" altLang="ko-KR" sz="1200" dirty="0"/>
              <a:t>(</a:t>
            </a:r>
            <a:r>
              <a:rPr lang="ko-KR" altLang="en-US" sz="1200" dirty="0"/>
              <a:t>학습 </a:t>
            </a:r>
            <a:r>
              <a:rPr lang="ko-KR" altLang="en-US" sz="1200" dirty="0" err="1"/>
              <a:t>미참여</a:t>
            </a:r>
            <a:r>
              <a:rPr lang="en-US" altLang="ko-KR" sz="1200" dirty="0"/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2FB691-FBB7-42AC-92FF-1BD874CDB81D}"/>
              </a:ext>
            </a:extLst>
          </p:cNvPr>
          <p:cNvSpPr txBox="1"/>
          <p:nvPr/>
        </p:nvSpPr>
        <p:spPr>
          <a:xfrm>
            <a:off x="4468012" y="4987495"/>
            <a:ext cx="3399779" cy="109260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b="1" dirty="0">
                <a:solidFill>
                  <a:srgbClr val="39CD05"/>
                </a:solidFill>
              </a:rPr>
              <a:t>이 비율을 선택한 이유</a:t>
            </a:r>
            <a:r>
              <a:rPr lang="en-US" altLang="ko-KR" sz="1200" b="1" dirty="0">
                <a:solidFill>
                  <a:srgbClr val="39CD05"/>
                </a:solidFill>
              </a:rPr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dirty="0"/>
              <a:t>데이터가 제한적인 상황에서 모델이 학습 데이터에만 과하게 적응하는 과적합을 방지하고</a:t>
            </a:r>
            <a:r>
              <a:rPr lang="en-US" altLang="ko-KR" sz="1200" dirty="0"/>
              <a:t>, </a:t>
            </a:r>
            <a:r>
              <a:rPr lang="ko-KR" altLang="en-US" sz="1200" dirty="0"/>
              <a:t>검증을 통해 최적의 모델을 저장하기 위함</a:t>
            </a:r>
            <a:endParaRPr lang="en-US" altLang="ko-KR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D06379-A9F0-4377-BDA2-269DFE439734}"/>
              </a:ext>
            </a:extLst>
          </p:cNvPr>
          <p:cNvSpPr txBox="1"/>
          <p:nvPr/>
        </p:nvSpPr>
        <p:spPr>
          <a:xfrm>
            <a:off x="8395981" y="4987495"/>
            <a:ext cx="3399779" cy="1169551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학습 효과</a:t>
            </a:r>
            <a:r>
              <a:rPr lang="en-US" altLang="ko-KR" sz="12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: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dirty="0"/>
              <a:t>Test(10%)</a:t>
            </a:r>
            <a:r>
              <a:rPr lang="ko-KR" altLang="en-US" sz="1200" dirty="0"/>
              <a:t>은</a:t>
            </a:r>
            <a:r>
              <a:rPr lang="en-US" altLang="ko-KR" sz="1200" dirty="0"/>
              <a:t> </a:t>
            </a:r>
            <a:r>
              <a:rPr lang="ko-KR" altLang="en-US" sz="1200" dirty="0"/>
              <a:t>학습에 전혀 관여하지 않아</a:t>
            </a:r>
            <a:r>
              <a:rPr lang="en-US" altLang="ko-KR" sz="1200" dirty="0"/>
              <a:t>, </a:t>
            </a:r>
            <a:r>
              <a:rPr lang="ko-KR" altLang="en-US" sz="1200" dirty="0"/>
              <a:t>실제 주행 시 예상되는 </a:t>
            </a:r>
            <a:r>
              <a:rPr lang="ko-KR" altLang="en-US" sz="1200" dirty="0" err="1"/>
              <a:t>객곽전인</a:t>
            </a:r>
            <a:r>
              <a:rPr lang="ko-KR" altLang="en-US" sz="1200" dirty="0"/>
              <a:t> 성능 평가가 가능함</a:t>
            </a:r>
            <a:endParaRPr lang="en-US" altLang="ko-KR" sz="12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2643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3.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파라미터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최적화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전략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942392" y="1987420"/>
            <a:ext cx="3779118" cy="3256383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sz="1400" dirty="0">
                <a:solidFill>
                  <a:schemeClr val="bg1">
                    <a:lumMod val="50000"/>
                  </a:schemeClr>
                </a:solidFill>
              </a:rPr>
              <a:t>⚠️ </a:t>
            </a:r>
            <a:r>
              <a:rPr sz="1400" dirty="0" err="1">
                <a:solidFill>
                  <a:schemeClr val="bg1">
                    <a:lumMod val="50000"/>
                  </a:schemeClr>
                </a:solidFill>
              </a:rPr>
              <a:t>기존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sz="1400" dirty="0" err="1">
                <a:solidFill>
                  <a:schemeClr val="bg1">
                    <a:lumMod val="50000"/>
                  </a:schemeClr>
                </a:solidFill>
              </a:rPr>
              <a:t>코드</a:t>
            </a:r>
            <a:r>
              <a:rPr sz="1400" dirty="0">
                <a:solidFill>
                  <a:schemeClr val="bg1">
                    <a:lumMod val="50000"/>
                  </a:schemeClr>
                </a:solidFill>
              </a:rPr>
              <a:t> (Default)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sz="3200" b="1" dirty="0">
                <a:solidFill>
                  <a:schemeClr val="bg1">
                    <a:lumMod val="75000"/>
                  </a:schemeClr>
                </a:solidFill>
              </a:rPr>
              <a:t>Epochs = 20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</a:rPr>
              <a:t>제공된 기본 </a:t>
            </a:r>
            <a:r>
              <a:rPr lang="ko-KR" altLang="en-US" sz="1000" dirty="0" err="1">
                <a:solidFill>
                  <a:schemeClr val="bg1">
                    <a:lumMod val="50000"/>
                  </a:schemeClr>
                </a:solidFill>
              </a:rPr>
              <a:t>설정값</a:t>
            </a:r>
            <a:endParaRPr lang="en-US" altLang="ko-KR" sz="1000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9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sz="9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400" b="1" dirty="0">
                <a:solidFill>
                  <a:srgbClr val="FFFF00"/>
                </a:solidFill>
              </a:rPr>
              <a:t>⚠️</a:t>
            </a:r>
            <a:r>
              <a:rPr lang="ko-KR" altLang="en-US" sz="1400" b="1" dirty="0"/>
              <a:t> </a:t>
            </a:r>
            <a:r>
              <a:rPr lang="ko-KR" altLang="en-US" sz="1400" b="1" dirty="0">
                <a:solidFill>
                  <a:schemeClr val="accent2"/>
                </a:solidFill>
              </a:rPr>
              <a:t>우려되는 점 </a:t>
            </a:r>
            <a:r>
              <a:rPr lang="en-US" altLang="ko-KR" sz="1400" b="1" dirty="0">
                <a:solidFill>
                  <a:schemeClr val="accent2"/>
                </a:solidFill>
              </a:rPr>
              <a:t>(</a:t>
            </a:r>
            <a:r>
              <a:rPr lang="ko-KR" altLang="en-US" sz="1400" b="1" dirty="0">
                <a:solidFill>
                  <a:schemeClr val="accent2"/>
                </a:solidFill>
              </a:rPr>
              <a:t>한계</a:t>
            </a:r>
            <a:r>
              <a:rPr lang="en-US" altLang="ko-KR" sz="1400" b="1" dirty="0">
                <a:solidFill>
                  <a:schemeClr val="accent2"/>
                </a:solidFill>
              </a:rPr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학습 횟수가 부족하여 모델이 데이터의 특징을 충분히 배우지 못하는 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과소적합</a:t>
            </a:r>
            <a:r>
              <a:rPr lang="ko-KR" altLang="en-US" sz="1200" dirty="0">
                <a:solidFill>
                  <a:schemeClr val="bg1">
                    <a:lumMod val="50000"/>
                  </a:schemeClr>
                </a:solidFill>
              </a:rPr>
              <a:t> 발생 가능성 있음</a:t>
            </a:r>
            <a:endParaRPr sz="12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241115" y="32004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888888"/>
                </a:solidFill>
              </a:defRPr>
            </a:pPr>
            <a:r>
              <a:rPr dirty="0"/>
              <a:t>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1371599"/>
            <a:ext cx="5029200" cy="4571989"/>
          </a:xfrm>
          <a:prstGeom prst="roundRect">
            <a:avLst/>
          </a:prstGeom>
          <a:solidFill>
            <a:srgbClr val="2A2A2A"/>
          </a:solidFill>
          <a:ln w="25400">
            <a:solidFill>
              <a:srgbClr val="60A5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dirty="0"/>
              <a:t>🚀 </a:t>
            </a:r>
            <a:r>
              <a:rPr dirty="0" err="1"/>
              <a:t>개선</a:t>
            </a:r>
            <a:r>
              <a:rPr dirty="0"/>
              <a:t> </a:t>
            </a:r>
            <a:r>
              <a:rPr dirty="0" err="1"/>
              <a:t>시도</a:t>
            </a:r>
            <a:r>
              <a:rPr dirty="0"/>
              <a:t> (Improved)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sz="2400" b="1" dirty="0"/>
              <a:t>Epochs = 50 </a:t>
            </a:r>
            <a:endParaRPr lang="en-US" altLang="ko-KR" sz="2400" b="1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sz="2400" b="1" dirty="0"/>
              <a:t>+ Early Stopping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000" dirty="0">
                <a:solidFill>
                  <a:schemeClr val="bg1">
                    <a:lumMod val="75000"/>
                  </a:schemeClr>
                </a:solidFill>
              </a:rPr>
              <a:t>학습량 증대 및 안전장치 추가</a:t>
            </a:r>
            <a:endParaRPr lang="en-US" altLang="ko-KR" sz="10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1000" dirty="0">
              <a:solidFill>
                <a:schemeClr val="bg1">
                  <a:lumMod val="7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400" b="1" dirty="0">
                <a:solidFill>
                  <a:srgbClr val="92D050"/>
                </a:solidFill>
              </a:rPr>
              <a:t>✅</a:t>
            </a:r>
            <a:r>
              <a:rPr lang="ko-KR" altLang="en-US" sz="1400" b="1" dirty="0"/>
              <a:t> </a:t>
            </a:r>
            <a:r>
              <a:rPr lang="en-US" altLang="ko-KR" sz="1400" b="1" dirty="0">
                <a:solidFill>
                  <a:srgbClr val="0070C0"/>
                </a:solidFill>
              </a:rPr>
              <a:t>Epoch </a:t>
            </a:r>
            <a:r>
              <a:rPr lang="ko-KR" altLang="en-US" sz="1400" b="1" dirty="0">
                <a:solidFill>
                  <a:srgbClr val="0070C0"/>
                </a:solidFill>
              </a:rPr>
              <a:t>증가 이유 </a:t>
            </a:r>
            <a:r>
              <a:rPr lang="en-US" altLang="ko-KR" sz="1400" b="1" dirty="0">
                <a:solidFill>
                  <a:srgbClr val="0070C0"/>
                </a:solidFill>
              </a:rPr>
              <a:t>(</a:t>
            </a:r>
            <a:r>
              <a:rPr lang="ko-KR" altLang="en-US" sz="1400" b="1" dirty="0">
                <a:solidFill>
                  <a:srgbClr val="0070C0"/>
                </a:solidFill>
              </a:rPr>
              <a:t>장점</a:t>
            </a:r>
            <a:r>
              <a:rPr lang="en-US" altLang="ko-KR" sz="1400" b="1" dirty="0">
                <a:solidFill>
                  <a:srgbClr val="0070C0"/>
                </a:solidFill>
              </a:rPr>
              <a:t>)</a:t>
            </a: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충분한 학습 시간을 부여하는 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Loss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값을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최소화하고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모델의 정확도를 극한으로 끌어올림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sz="1400" b="1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sz="1400" b="1" dirty="0">
                <a:solidFill>
                  <a:srgbClr val="0070C0"/>
                </a:solidFill>
              </a:rPr>
              <a:t>🛡️</a:t>
            </a:r>
            <a:r>
              <a:rPr lang="ko-KR" altLang="en-US" sz="1400" b="1" dirty="0"/>
              <a:t> </a:t>
            </a:r>
            <a:r>
              <a:rPr lang="en-US" altLang="ko-KR" sz="1400" b="1" dirty="0">
                <a:solidFill>
                  <a:srgbClr val="00B050"/>
                </a:solidFill>
              </a:rPr>
              <a:t>Early Stopping </a:t>
            </a:r>
            <a:r>
              <a:rPr lang="ko-KR" altLang="en-US" sz="1400" b="1" dirty="0">
                <a:solidFill>
                  <a:srgbClr val="00B050"/>
                </a:solidFill>
              </a:rPr>
              <a:t>도입 이유</a:t>
            </a:r>
            <a:endParaRPr lang="en-US" altLang="ko-KR" sz="1400" b="1" dirty="0">
              <a:solidFill>
                <a:srgbClr val="00B050"/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Epoch 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증가로 인한 과적함 부작용을 방지</a:t>
            </a:r>
            <a:r>
              <a:rPr lang="en-US" altLang="ko-KR" sz="1200" b="1" dirty="0">
                <a:solidFill>
                  <a:schemeClr val="bg1">
                    <a:lumMod val="85000"/>
                  </a:schemeClr>
                </a:solidFill>
              </a:rPr>
              <a:t>. Validation Loss</a:t>
            </a:r>
            <a:r>
              <a:rPr lang="ko-KR" altLang="en-US" sz="1200" b="1" dirty="0">
                <a:solidFill>
                  <a:schemeClr val="bg1">
                    <a:lumMod val="85000"/>
                  </a:schemeClr>
                </a:solidFill>
              </a:rPr>
              <a:t>가 더 이상 개선되지 않으면 학습을 조기 종료하여 최적의 모델 보존</a:t>
            </a:r>
            <a:endParaRPr lang="en-US" altLang="ko-KR" sz="12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lang="en-US" altLang="ko-KR" dirty="0"/>
          </a:p>
        </p:txBody>
      </p:sp>
      <p:cxnSp>
        <p:nvCxnSpPr>
          <p:cNvPr id="7" name="Connector 6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4 / 10</a:t>
            </a: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FAA66405-047C-44D5-933F-C25F355C1BE8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101AD8FE-5310-4BA3-8FBE-B315B3EF19B3}"/>
              </a:ext>
            </a:extLst>
          </p:cNvPr>
          <p:cNvCxnSpPr>
            <a:cxnSpLocks/>
          </p:cNvCxnSpPr>
          <p:nvPr/>
        </p:nvCxnSpPr>
        <p:spPr>
          <a:xfrm>
            <a:off x="1250302" y="3825551"/>
            <a:ext cx="3256384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08623A09-43A0-4ABD-91C2-4FA44C31DF87}"/>
              </a:ext>
            </a:extLst>
          </p:cNvPr>
          <p:cNvCxnSpPr>
            <a:cxnSpLocks/>
          </p:cNvCxnSpPr>
          <p:nvPr/>
        </p:nvCxnSpPr>
        <p:spPr>
          <a:xfrm>
            <a:off x="7063274" y="3307703"/>
            <a:ext cx="431074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535595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4.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1회차 :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데이터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불균형의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문제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15208"/>
            <a:ext cx="3657600" cy="482839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4389120" y="1609535"/>
            <a:ext cx="7315200" cy="3638929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5 / 10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F58BB398-3681-43CD-8FE1-1860D7136219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58733B11-175C-4156-995E-6AFBB3C1DF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9424110"/>
              </p:ext>
            </p:extLst>
          </p:nvPr>
        </p:nvGraphicFramePr>
        <p:xfrm>
          <a:off x="1125687" y="1215390"/>
          <a:ext cx="2149358" cy="3851129"/>
        </p:xfrm>
        <a:graphic>
          <a:graphicData uri="http://schemas.openxmlformats.org/drawingml/2006/table">
            <a:tbl>
              <a:tblPr/>
              <a:tblGrid>
                <a:gridCol w="1076337">
                  <a:extLst>
                    <a:ext uri="{9D8B030D-6E8A-4147-A177-3AD203B41FA5}">
                      <a16:colId xmlns:a16="http://schemas.microsoft.com/office/drawing/2014/main" val="1898228887"/>
                    </a:ext>
                  </a:extLst>
                </a:gridCol>
                <a:gridCol w="1073021">
                  <a:extLst>
                    <a:ext uri="{9D8B030D-6E8A-4147-A177-3AD203B41FA5}">
                      <a16:colId xmlns:a16="http://schemas.microsoft.com/office/drawing/2014/main" val="3512604113"/>
                    </a:ext>
                  </a:extLst>
                </a:gridCol>
              </a:tblGrid>
              <a:tr h="6429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FFFFFF"/>
                          </a:solidFill>
                          <a:effectLst/>
                        </a:rPr>
                        <a:t>각도 </a:t>
                      </a:r>
                      <a:r>
                        <a:rPr lang="en-US" altLang="ko-KR" sz="120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</a:rPr>
                        <a:t>Angle)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FFFFFF"/>
                          </a:solidFill>
                          <a:effectLst/>
                        </a:rPr>
                        <a:t>장수 </a:t>
                      </a:r>
                      <a:r>
                        <a:rPr lang="en-US" altLang="ko-KR" sz="1200" dirty="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</a:rPr>
                        <a:t>Count)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68073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3700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388856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1561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953035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09217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90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3204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72728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110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2124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660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437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448477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25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766649"/>
                  </a:ext>
                </a:extLst>
              </a:tr>
              <a:tr h="60981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CCCCCC"/>
                          </a:solidFill>
                          <a:effectLst/>
                        </a:rPr>
                        <a:t>토탈 </a:t>
                      </a:r>
                      <a:r>
                        <a:rPr lang="en-US" altLang="ko-KR" sz="1200" b="1">
                          <a:solidFill>
                            <a:srgbClr val="CCCCCC"/>
                          </a:solidFill>
                          <a:effectLst/>
                        </a:rPr>
                        <a:t>(</a:t>
                      </a:r>
                      <a:r>
                        <a:rPr lang="en-US" sz="1200" b="1">
                          <a:solidFill>
                            <a:srgbClr val="CCCCCC"/>
                          </a:solidFill>
                          <a:effectLst/>
                        </a:rPr>
                        <a:t>Total)</a:t>
                      </a:r>
                      <a:endParaRPr lang="en-US" sz="12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CCCCCC"/>
                          </a:solidFill>
                          <a:effectLst/>
                        </a:rPr>
                        <a:t>14953</a:t>
                      </a: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  <a:endParaRPr lang="ko-KR" altLang="en-US" sz="1200" dirty="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95813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241B758-65AD-415D-B63A-93257F057085}"/>
              </a:ext>
            </a:extLst>
          </p:cNvPr>
          <p:cNvSpPr txBox="1"/>
          <p:nvPr/>
        </p:nvSpPr>
        <p:spPr>
          <a:xfrm>
            <a:off x="4534678" y="1129004"/>
            <a:ext cx="3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📉</a:t>
            </a:r>
            <a:r>
              <a:rPr lang="ko-KR" altLang="en-US" dirty="0">
                <a:solidFill>
                  <a:srgbClr val="4D7AB2"/>
                </a:solidFill>
              </a:rPr>
              <a:t> </a:t>
            </a:r>
            <a:r>
              <a:rPr lang="ko-KR" altLang="en-US" b="1" dirty="0">
                <a:solidFill>
                  <a:srgbClr val="4D7AB2"/>
                </a:solidFill>
              </a:rPr>
              <a:t>분석 결과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86FBD5-AE98-4339-A524-32B2EE8DAE6B}"/>
              </a:ext>
            </a:extLst>
          </p:cNvPr>
          <p:cNvSpPr txBox="1"/>
          <p:nvPr/>
        </p:nvSpPr>
        <p:spPr>
          <a:xfrm>
            <a:off x="1034039" y="5281127"/>
            <a:ext cx="250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E8F945"/>
                </a:solidFill>
              </a:rPr>
              <a:t>분할 결과 </a:t>
            </a:r>
            <a:r>
              <a:rPr lang="en-US" altLang="ko-KR" sz="1200" b="1" dirty="0">
                <a:solidFill>
                  <a:srgbClr val="E8F945"/>
                </a:solidFill>
              </a:rPr>
              <a:t>(7:2:1)</a:t>
            </a:r>
            <a:br>
              <a:rPr lang="ko-KR" altLang="en-US" sz="1200" dirty="0"/>
            </a:b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Train: 10467 / Val: 2991 / Test: 1495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E2B9F8-0F10-4B9C-A7C6-5EAB9F556AC8}"/>
              </a:ext>
            </a:extLst>
          </p:cNvPr>
          <p:cNvSpPr txBox="1"/>
          <p:nvPr/>
        </p:nvSpPr>
        <p:spPr>
          <a:xfrm>
            <a:off x="4534678" y="5336095"/>
            <a:ext cx="7197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400" dirty="0"/>
              <a:t>• </a:t>
            </a:r>
            <a:r>
              <a:rPr lang="ko-KR" altLang="en-US" sz="1400" b="1" dirty="0"/>
              <a:t>현상</a:t>
            </a:r>
            <a:r>
              <a:rPr lang="en-US" altLang="ko-KR" sz="1400" dirty="0"/>
              <a:t>: </a:t>
            </a:r>
            <a:r>
              <a:rPr lang="ko-KR" altLang="en-US" sz="1400" dirty="0"/>
              <a:t>직진과 좌회전은 무난하게 수행하나</a:t>
            </a:r>
            <a:r>
              <a:rPr lang="en-US" altLang="ko-KR" sz="1400" dirty="0"/>
              <a:t>, </a:t>
            </a:r>
            <a:r>
              <a:rPr lang="ko-KR" altLang="en-US" sz="1400" b="1" dirty="0">
                <a:solidFill>
                  <a:schemeClr val="accent2"/>
                </a:solidFill>
              </a:rPr>
              <a:t>특정 각도</a:t>
            </a:r>
            <a:r>
              <a:rPr lang="en-US" altLang="ko-KR" sz="1400" b="1" dirty="0">
                <a:solidFill>
                  <a:schemeClr val="accent2"/>
                </a:solidFill>
              </a:rPr>
              <a:t>(</a:t>
            </a:r>
            <a:r>
              <a:rPr lang="ko-KR" altLang="en-US" sz="1400" b="1" dirty="0">
                <a:solidFill>
                  <a:schemeClr val="accent2"/>
                </a:solidFill>
              </a:rPr>
              <a:t>우회전</a:t>
            </a:r>
            <a:r>
              <a:rPr lang="en-US" altLang="ko-KR" sz="1400" b="1" dirty="0">
                <a:solidFill>
                  <a:schemeClr val="accent2"/>
                </a:solidFill>
              </a:rPr>
              <a:t>) </a:t>
            </a:r>
            <a:r>
              <a:rPr lang="ko-KR" altLang="en-US" sz="1400" b="1" dirty="0">
                <a:solidFill>
                  <a:schemeClr val="accent2"/>
                </a:solidFill>
              </a:rPr>
              <a:t>데이터 부족</a:t>
            </a:r>
            <a:r>
              <a:rPr lang="ko-KR" altLang="en-US" sz="1400" dirty="0"/>
              <a:t>으로 경로를 이탈함</a:t>
            </a:r>
            <a:endParaRPr lang="en-US" altLang="ko-KR" sz="14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원인</a:t>
            </a:r>
            <a:r>
              <a:rPr lang="en-US" altLang="ko-KR" dirty="0"/>
              <a:t>: </a:t>
            </a:r>
            <a:r>
              <a:rPr lang="ko-KR" altLang="en-US" dirty="0"/>
              <a:t>우회전 데이터 부족</a:t>
            </a:r>
            <a:endParaRPr lang="en-US" altLang="ko-KR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개선 방향</a:t>
            </a:r>
            <a:r>
              <a:rPr lang="en-US" altLang="ko-KR" dirty="0"/>
              <a:t>: </a:t>
            </a:r>
            <a:r>
              <a:rPr lang="ko-KR" altLang="en-US" dirty="0"/>
              <a:t>데이터 추가 확보 필요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FF571E5-BA08-4409-B218-94D53F110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2096" y="2073608"/>
            <a:ext cx="6729247" cy="28038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93917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5.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2회차 :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잘못된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오버샘플링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101013"/>
            <a:ext cx="3657600" cy="4842587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6 / 10</a:t>
            </a:r>
          </a:p>
        </p:txBody>
      </p:sp>
      <p:cxnSp>
        <p:nvCxnSpPr>
          <p:cNvPr id="9" name="Connector 5">
            <a:extLst>
              <a:ext uri="{FF2B5EF4-FFF2-40B4-BE49-F238E27FC236}">
                <a16:creationId xmlns:a16="http://schemas.microsoft.com/office/drawing/2014/main" id="{CEEF6910-DA2D-47FF-9544-517F6EC69B89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52521394-7088-4F75-ABA0-2366118A113D}"/>
              </a:ext>
            </a:extLst>
          </p:cNvPr>
          <p:cNvSpPr/>
          <p:nvPr/>
        </p:nvSpPr>
        <p:spPr>
          <a:xfrm>
            <a:off x="4389120" y="1609535"/>
            <a:ext cx="7315200" cy="3638929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ED6065-F5CA-49E3-BF23-457B6FAC1598}"/>
              </a:ext>
            </a:extLst>
          </p:cNvPr>
          <p:cNvSpPr txBox="1"/>
          <p:nvPr/>
        </p:nvSpPr>
        <p:spPr>
          <a:xfrm>
            <a:off x="1034039" y="5281127"/>
            <a:ext cx="250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E8F945"/>
                </a:solidFill>
              </a:rPr>
              <a:t>분할 결과 </a:t>
            </a:r>
            <a:r>
              <a:rPr lang="en-US" altLang="ko-KR" sz="1200" b="1" dirty="0">
                <a:solidFill>
                  <a:srgbClr val="E8F945"/>
                </a:solidFill>
              </a:rPr>
              <a:t>(7:2:1)</a:t>
            </a:r>
            <a:br>
              <a:rPr lang="ko-KR" altLang="en-US" sz="1200" dirty="0"/>
            </a:b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Train: 16881 / Val: 4823 / Test: 2412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712847-5BBC-40B7-B621-3F8725D991CB}"/>
              </a:ext>
            </a:extLst>
          </p:cNvPr>
          <p:cNvSpPr txBox="1"/>
          <p:nvPr/>
        </p:nvSpPr>
        <p:spPr>
          <a:xfrm>
            <a:off x="4534678" y="1129004"/>
            <a:ext cx="3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📉</a:t>
            </a:r>
            <a:r>
              <a:rPr lang="ko-KR" altLang="en-US" dirty="0">
                <a:solidFill>
                  <a:srgbClr val="4D7AB2"/>
                </a:solidFill>
              </a:rPr>
              <a:t> </a:t>
            </a:r>
            <a:r>
              <a:rPr lang="ko-KR" altLang="en-US" b="1" dirty="0">
                <a:solidFill>
                  <a:srgbClr val="4D7AB2"/>
                </a:solidFill>
              </a:rPr>
              <a:t>분석 결과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26CDD85-5875-4197-ABFC-4A476AF98F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583228"/>
              </p:ext>
            </p:extLst>
          </p:nvPr>
        </p:nvGraphicFramePr>
        <p:xfrm>
          <a:off x="1125687" y="1215390"/>
          <a:ext cx="2149358" cy="3851129"/>
        </p:xfrm>
        <a:graphic>
          <a:graphicData uri="http://schemas.openxmlformats.org/drawingml/2006/table">
            <a:tbl>
              <a:tblPr/>
              <a:tblGrid>
                <a:gridCol w="1076337">
                  <a:extLst>
                    <a:ext uri="{9D8B030D-6E8A-4147-A177-3AD203B41FA5}">
                      <a16:colId xmlns:a16="http://schemas.microsoft.com/office/drawing/2014/main" val="1898228887"/>
                    </a:ext>
                  </a:extLst>
                </a:gridCol>
                <a:gridCol w="1073021">
                  <a:extLst>
                    <a:ext uri="{9D8B030D-6E8A-4147-A177-3AD203B41FA5}">
                      <a16:colId xmlns:a16="http://schemas.microsoft.com/office/drawing/2014/main" val="3512604113"/>
                    </a:ext>
                  </a:extLst>
                </a:gridCol>
              </a:tblGrid>
              <a:tr h="6429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FFFFFF"/>
                          </a:solidFill>
                          <a:effectLst/>
                        </a:rPr>
                        <a:t>각도 </a:t>
                      </a:r>
                      <a:r>
                        <a:rPr lang="en-US" altLang="ko-KR" sz="120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</a:rPr>
                        <a:t>Angle)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FFFFFF"/>
                          </a:solidFill>
                          <a:effectLst/>
                        </a:rPr>
                        <a:t>장수 </a:t>
                      </a:r>
                      <a:r>
                        <a:rPr lang="en-US" altLang="ko-KR" sz="1200" dirty="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</a:rPr>
                        <a:t>Count)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68073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3700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388856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1561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953035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09217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90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3204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72728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110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6026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660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1998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448477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3725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766649"/>
                  </a:ext>
                </a:extLst>
              </a:tr>
              <a:tr h="60981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CCCCCC"/>
                          </a:solidFill>
                          <a:effectLst/>
                        </a:rPr>
                        <a:t>토탈 </a:t>
                      </a:r>
                      <a:r>
                        <a:rPr lang="en-US" altLang="ko-KR" sz="1200" b="1">
                          <a:solidFill>
                            <a:srgbClr val="CCCCCC"/>
                          </a:solidFill>
                          <a:effectLst/>
                        </a:rPr>
                        <a:t>(</a:t>
                      </a:r>
                      <a:r>
                        <a:rPr lang="en-US" sz="1200" b="1">
                          <a:solidFill>
                            <a:srgbClr val="CCCCCC"/>
                          </a:solidFill>
                          <a:effectLst/>
                        </a:rPr>
                        <a:t>Total)</a:t>
                      </a:r>
                      <a:endParaRPr lang="en-US" sz="12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CCCCCC"/>
                          </a:solidFill>
                          <a:effectLst/>
                        </a:rPr>
                        <a:t>24116</a:t>
                      </a: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  <a:endParaRPr lang="ko-KR" altLang="en-US" sz="1200" dirty="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9581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89E5C3C7-CB38-4115-B02F-169C6C6FC8F6}"/>
              </a:ext>
            </a:extLst>
          </p:cNvPr>
          <p:cNvSpPr txBox="1"/>
          <p:nvPr/>
        </p:nvSpPr>
        <p:spPr>
          <a:xfrm>
            <a:off x="4534678" y="5336095"/>
            <a:ext cx="71970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400" dirty="0"/>
              <a:t>• </a:t>
            </a:r>
            <a:r>
              <a:rPr lang="ko-KR" altLang="en-US" sz="1400" b="1" dirty="0"/>
              <a:t>결과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우회전뿐만</a:t>
            </a:r>
            <a:r>
              <a:rPr lang="ko-KR" altLang="en-US" sz="1400" dirty="0"/>
              <a:t> 아니라</a:t>
            </a:r>
            <a:r>
              <a:rPr lang="en-US" altLang="ko-KR" sz="1400" dirty="0"/>
              <a:t>, </a:t>
            </a:r>
            <a:r>
              <a:rPr lang="ko-KR" altLang="en-US" sz="1400" b="1" dirty="0">
                <a:solidFill>
                  <a:schemeClr val="accent3"/>
                </a:solidFill>
              </a:rPr>
              <a:t>기존에 잘 되던 좌회전 성능까지 하락</a:t>
            </a:r>
            <a:r>
              <a:rPr lang="ko-KR" altLang="en-US" sz="1400" dirty="0"/>
              <a:t>함</a:t>
            </a:r>
            <a:endParaRPr lang="en-US" altLang="ko-KR" sz="14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원인</a:t>
            </a:r>
            <a:r>
              <a:rPr lang="en-US" altLang="ko-KR" dirty="0"/>
              <a:t>: </a:t>
            </a:r>
            <a:r>
              <a:rPr lang="ko-KR" altLang="en-US" dirty="0"/>
              <a:t>이미지를 좌우 반전</a:t>
            </a:r>
            <a:r>
              <a:rPr lang="en-US" altLang="ko-KR" dirty="0"/>
              <a:t> </a:t>
            </a:r>
            <a:r>
              <a:rPr lang="ko-KR" altLang="en-US" dirty="0"/>
              <a:t>시키면서 배경의 특징</a:t>
            </a:r>
            <a:r>
              <a:rPr lang="en-US" altLang="ko-KR" dirty="0"/>
              <a:t>(</a:t>
            </a:r>
            <a:r>
              <a:rPr lang="ko-KR" altLang="en-US" dirty="0"/>
              <a:t>조명</a:t>
            </a:r>
            <a:r>
              <a:rPr lang="en-US" altLang="ko-KR" dirty="0"/>
              <a:t>, </a:t>
            </a:r>
            <a:r>
              <a:rPr lang="ko-KR" altLang="en-US" dirty="0"/>
              <a:t>그림자 위치</a:t>
            </a:r>
            <a:r>
              <a:rPr lang="en-US" altLang="ko-KR" dirty="0"/>
              <a:t>)</a:t>
            </a:r>
            <a:r>
              <a:rPr lang="ko-KR" altLang="en-US" dirty="0"/>
              <a:t>이 현실과 달려져 노이즈로 작용함</a:t>
            </a:r>
            <a:endParaRPr lang="en-US" altLang="ko-KR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개선 방향</a:t>
            </a:r>
            <a:r>
              <a:rPr lang="en-US" altLang="ko-KR" dirty="0"/>
              <a:t>: </a:t>
            </a:r>
            <a:r>
              <a:rPr lang="ko-KR" altLang="en-US" dirty="0"/>
              <a:t>무분별한 데이터 증강 개선 필요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5C2A33-13AE-4418-B038-6A71D5005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678" y="2118262"/>
            <a:ext cx="3660916" cy="2760634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31A474D-E223-45A1-9371-D07398EC4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109" y="2118263"/>
            <a:ext cx="3287695" cy="280392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43262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6.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학습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3회차 :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최적화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성공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7 / 10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6B9CCAF1-A51C-48A3-A321-B77CA9E6A860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3">
            <a:extLst>
              <a:ext uri="{FF2B5EF4-FFF2-40B4-BE49-F238E27FC236}">
                <a16:creationId xmlns:a16="http://schemas.microsoft.com/office/drawing/2014/main" id="{B78801D4-F40B-4823-ADB1-A978AD2120C3}"/>
              </a:ext>
            </a:extLst>
          </p:cNvPr>
          <p:cNvSpPr/>
          <p:nvPr/>
        </p:nvSpPr>
        <p:spPr>
          <a:xfrm>
            <a:off x="457200" y="1101013"/>
            <a:ext cx="3657600" cy="4842587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7D2ECA2B-AF8B-480B-953D-829918B20D53}"/>
              </a:ext>
            </a:extLst>
          </p:cNvPr>
          <p:cNvSpPr/>
          <p:nvPr/>
        </p:nvSpPr>
        <p:spPr>
          <a:xfrm>
            <a:off x="4389120" y="1609535"/>
            <a:ext cx="7315200" cy="3638929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6A2477-2C1D-4888-9749-A80DB4B55D0A}"/>
              </a:ext>
            </a:extLst>
          </p:cNvPr>
          <p:cNvSpPr txBox="1"/>
          <p:nvPr/>
        </p:nvSpPr>
        <p:spPr>
          <a:xfrm>
            <a:off x="1034039" y="5281127"/>
            <a:ext cx="2503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rgbClr val="E8F945"/>
                </a:solidFill>
              </a:rPr>
              <a:t>분할 결과 </a:t>
            </a:r>
            <a:r>
              <a:rPr lang="en-US" altLang="ko-KR" sz="1200" b="1" dirty="0">
                <a:solidFill>
                  <a:srgbClr val="E8F945"/>
                </a:solidFill>
              </a:rPr>
              <a:t>(7:2:1)</a:t>
            </a:r>
            <a:br>
              <a:rPr lang="ko-KR" altLang="en-US" sz="1200" dirty="0"/>
            </a:br>
            <a:r>
              <a:rPr lang="en-US" altLang="ko-KR" sz="1200" dirty="0">
                <a:solidFill>
                  <a:schemeClr val="bg1">
                    <a:lumMod val="75000"/>
                  </a:schemeClr>
                </a:solidFill>
              </a:rPr>
              <a:t>Train: 19120 / Val: 5463 / Test: 2731</a:t>
            </a:r>
            <a:endParaRPr lang="ko-KR" altLang="en-US" sz="12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BEF337-5277-449D-B55F-0FA828AD165C}"/>
              </a:ext>
            </a:extLst>
          </p:cNvPr>
          <p:cNvSpPr txBox="1"/>
          <p:nvPr/>
        </p:nvSpPr>
        <p:spPr>
          <a:xfrm>
            <a:off x="4534678" y="1129004"/>
            <a:ext cx="30791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📉</a:t>
            </a:r>
            <a:r>
              <a:rPr lang="ko-KR" altLang="en-US" dirty="0">
                <a:solidFill>
                  <a:srgbClr val="4D7AB2"/>
                </a:solidFill>
              </a:rPr>
              <a:t> </a:t>
            </a:r>
            <a:r>
              <a:rPr lang="ko-KR" altLang="en-US" b="1" dirty="0">
                <a:solidFill>
                  <a:srgbClr val="4D7AB2"/>
                </a:solidFill>
              </a:rPr>
              <a:t>분석 결과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55AAF81-6F72-4B42-8F36-16A55AAA61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174412"/>
              </p:ext>
            </p:extLst>
          </p:nvPr>
        </p:nvGraphicFramePr>
        <p:xfrm>
          <a:off x="1125687" y="1215390"/>
          <a:ext cx="2149358" cy="3851129"/>
        </p:xfrm>
        <a:graphic>
          <a:graphicData uri="http://schemas.openxmlformats.org/drawingml/2006/table">
            <a:tbl>
              <a:tblPr/>
              <a:tblGrid>
                <a:gridCol w="1076337">
                  <a:extLst>
                    <a:ext uri="{9D8B030D-6E8A-4147-A177-3AD203B41FA5}">
                      <a16:colId xmlns:a16="http://schemas.microsoft.com/office/drawing/2014/main" val="1898228887"/>
                    </a:ext>
                  </a:extLst>
                </a:gridCol>
                <a:gridCol w="1073021">
                  <a:extLst>
                    <a:ext uri="{9D8B030D-6E8A-4147-A177-3AD203B41FA5}">
                      <a16:colId xmlns:a16="http://schemas.microsoft.com/office/drawing/2014/main" val="3512604113"/>
                    </a:ext>
                  </a:extLst>
                </a:gridCol>
              </a:tblGrid>
              <a:tr h="64296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>
                          <a:solidFill>
                            <a:srgbClr val="FFFFFF"/>
                          </a:solidFill>
                          <a:effectLst/>
                        </a:rPr>
                        <a:t>각도 </a:t>
                      </a:r>
                      <a:r>
                        <a:rPr lang="en-US" altLang="ko-KR" sz="120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>
                          <a:solidFill>
                            <a:srgbClr val="FFFFFF"/>
                          </a:solidFill>
                          <a:effectLst/>
                        </a:rPr>
                        <a:t>Angle)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>
                          <a:solidFill>
                            <a:srgbClr val="FFFFFF"/>
                          </a:solidFill>
                          <a:effectLst/>
                        </a:rPr>
                        <a:t>장수 </a:t>
                      </a:r>
                      <a:r>
                        <a:rPr lang="en-US" altLang="ko-KR" sz="1200" dirty="0">
                          <a:solidFill>
                            <a:srgbClr val="FFFFFF"/>
                          </a:solidFill>
                          <a:effectLst/>
                        </a:rPr>
                        <a:t>(</a:t>
                      </a:r>
                      <a:r>
                        <a:rPr lang="en-US" sz="1200" dirty="0">
                          <a:solidFill>
                            <a:srgbClr val="FFFFFF"/>
                          </a:solidFill>
                          <a:effectLst/>
                        </a:rPr>
                        <a:t>Count)</a:t>
                      </a: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1968073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10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5388856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5953035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009217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90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772728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110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396609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140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74448477"/>
                  </a:ext>
                </a:extLst>
              </a:tr>
              <a:tr h="37119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>
                          <a:solidFill>
                            <a:srgbClr val="CCCCCC"/>
                          </a:solidFill>
                          <a:effectLst/>
                        </a:rPr>
                        <a:t>170</a:t>
                      </a:r>
                      <a:r>
                        <a:rPr lang="ko-KR" altLang="en-US" sz="1200">
                          <a:solidFill>
                            <a:srgbClr val="CCCCCC"/>
                          </a:solidFill>
                          <a:effectLst/>
                        </a:rPr>
                        <a:t>도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CCCCCC"/>
                          </a:solidFill>
                          <a:effectLst/>
                        </a:rPr>
                        <a:t>3902</a:t>
                      </a:r>
                      <a:r>
                        <a:rPr lang="ko-KR" altLang="en-US" sz="1200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766649"/>
                  </a:ext>
                </a:extLst>
              </a:tr>
              <a:tr h="609818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>
                          <a:solidFill>
                            <a:srgbClr val="CCCCCC"/>
                          </a:solidFill>
                          <a:effectLst/>
                        </a:rPr>
                        <a:t>토탈 </a:t>
                      </a:r>
                      <a:r>
                        <a:rPr lang="en-US" altLang="ko-KR" sz="1200" b="1">
                          <a:solidFill>
                            <a:srgbClr val="CCCCCC"/>
                          </a:solidFill>
                          <a:effectLst/>
                        </a:rPr>
                        <a:t>(</a:t>
                      </a:r>
                      <a:r>
                        <a:rPr lang="en-US" sz="1200" b="1">
                          <a:solidFill>
                            <a:srgbClr val="CCCCCC"/>
                          </a:solidFill>
                          <a:effectLst/>
                        </a:rPr>
                        <a:t>Total)</a:t>
                      </a:r>
                      <a:endParaRPr lang="en-US" sz="120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b="1" dirty="0">
                          <a:solidFill>
                            <a:srgbClr val="CCCCCC"/>
                          </a:solidFill>
                          <a:effectLst/>
                        </a:rPr>
                        <a:t>27314</a:t>
                      </a:r>
                      <a:r>
                        <a:rPr lang="ko-KR" altLang="en-US" sz="1200" b="1" dirty="0">
                          <a:solidFill>
                            <a:srgbClr val="CCCCCC"/>
                          </a:solidFill>
                          <a:effectLst/>
                        </a:rPr>
                        <a:t>장</a:t>
                      </a:r>
                      <a:endParaRPr lang="ko-KR" altLang="en-US" sz="1200" dirty="0">
                        <a:solidFill>
                          <a:srgbClr val="CCCCCC"/>
                        </a:solidFill>
                        <a:effectLst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8695813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9B0E31CC-6D4C-4235-9B7C-67A2BF91C1DE}"/>
              </a:ext>
            </a:extLst>
          </p:cNvPr>
          <p:cNvSpPr txBox="1"/>
          <p:nvPr/>
        </p:nvSpPr>
        <p:spPr>
          <a:xfrm>
            <a:off x="4534678" y="5336095"/>
            <a:ext cx="7197074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sz="1400" dirty="0"/>
              <a:t>• </a:t>
            </a:r>
            <a:r>
              <a:rPr lang="ko-KR" altLang="en-US" sz="1400" b="1" dirty="0"/>
              <a:t>결과</a:t>
            </a:r>
            <a:r>
              <a:rPr lang="en-US" altLang="ko-KR" sz="1400" dirty="0"/>
              <a:t>: </a:t>
            </a:r>
            <a:r>
              <a:rPr lang="ko-KR" altLang="en-US" sz="1400" dirty="0"/>
              <a:t>좌</a:t>
            </a:r>
            <a:r>
              <a:rPr lang="en-US" altLang="ko-KR" sz="1400" dirty="0"/>
              <a:t>/</a:t>
            </a:r>
            <a:r>
              <a:rPr lang="ko-KR" altLang="en-US" sz="1400" dirty="0"/>
              <a:t>우회전 및 직진 모든 구간에서 안정적인 값 추론</a:t>
            </a:r>
            <a:endParaRPr lang="en-US" altLang="ko-KR" sz="1400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성과</a:t>
            </a:r>
            <a:r>
              <a:rPr lang="en-US" altLang="ko-KR" dirty="0"/>
              <a:t>: </a:t>
            </a:r>
            <a:r>
              <a:rPr lang="ko-KR" altLang="en-US" dirty="0"/>
              <a:t>데이터 불균형을 해소하여 </a:t>
            </a:r>
            <a:r>
              <a:rPr lang="en-US" altLang="ko-KR" dirty="0"/>
              <a:t>Loss </a:t>
            </a:r>
            <a:r>
              <a:rPr lang="ko-KR" altLang="en-US" dirty="0"/>
              <a:t>값이 안정적으로 </a:t>
            </a:r>
            <a:r>
              <a:rPr lang="en-US" altLang="ko-KR" dirty="0"/>
              <a:t>0.1 </a:t>
            </a:r>
            <a:r>
              <a:rPr lang="ko-KR" altLang="en-US" dirty="0"/>
              <a:t>이하로 수렴함</a:t>
            </a:r>
            <a:endParaRPr lang="en-US" altLang="ko-KR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en-US" altLang="ko-KR" dirty="0"/>
              <a:t>• </a:t>
            </a:r>
            <a:r>
              <a:rPr lang="ko-KR" altLang="en-US" b="1" dirty="0"/>
              <a:t>주행</a:t>
            </a:r>
            <a:r>
              <a:rPr lang="en-US" altLang="ko-KR" dirty="0"/>
              <a:t>: </a:t>
            </a:r>
            <a:r>
              <a:rPr lang="ko-KR" altLang="en-US" dirty="0"/>
              <a:t>라인 이탈 없이 부드러운 코너링으로 완주 성공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CDCF0F5-EC4B-48DA-8CE2-678FB7F9B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5159" y="2127380"/>
            <a:ext cx="3609590" cy="275151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EB677A8B-4EEC-4432-9795-CE2DD521F5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0787" y="2127381"/>
            <a:ext cx="3387013" cy="27898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4875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7.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성능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평가지표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분석</a:t>
            </a:r>
            <a:endParaRPr sz="24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029200" cy="4572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dirty="0"/>
              <a:t>📈 </a:t>
            </a:r>
            <a:r>
              <a:rPr lang="ko-KR" altLang="en-US" dirty="0"/>
              <a:t>실전 주행 테스트 기록 </a:t>
            </a:r>
            <a:r>
              <a:rPr lang="en-US" altLang="ko-KR" dirty="0"/>
              <a:t>(10</a:t>
            </a:r>
            <a:r>
              <a:rPr lang="ko-KR" altLang="en-US" dirty="0"/>
              <a:t>회 주행</a:t>
            </a:r>
            <a:r>
              <a:rPr lang="en-US" altLang="ko-KR" dirty="0"/>
              <a:t>)</a:t>
            </a:r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lang="en-US" altLang="ko-KR" sz="400" dirty="0"/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sz="1600" b="1" dirty="0">
                <a:solidFill>
                  <a:schemeClr val="bg1">
                    <a:lumMod val="95000"/>
                  </a:schemeClr>
                </a:solidFill>
              </a:rPr>
              <a:t>🏁</a:t>
            </a:r>
            <a:r>
              <a:rPr lang="ko-KR" altLang="en-US" sz="1600" b="1" dirty="0"/>
              <a:t> </a:t>
            </a:r>
            <a:r>
              <a:rPr lang="ko-KR" altLang="en-US" sz="1600" b="1" dirty="0">
                <a:solidFill>
                  <a:schemeClr val="bg1">
                    <a:lumMod val="85000"/>
                  </a:schemeClr>
                </a:solidFill>
              </a:rPr>
              <a:t>완주 성공률</a:t>
            </a:r>
            <a:endParaRPr lang="en-US" altLang="ko-KR" sz="16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lang="en-US" altLang="ko-KR" sz="16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lang="en-US" altLang="ko-KR" sz="16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lang="en-US" altLang="ko-KR" sz="1600" b="1" dirty="0">
              <a:solidFill>
                <a:srgbClr val="39CD05"/>
              </a:solidFill>
            </a:endParaRPr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lang="ko-KR" altLang="en-US" b="1" dirty="0">
                <a:solidFill>
                  <a:srgbClr val="FFFF00"/>
                </a:solidFill>
              </a:rPr>
              <a:t>⚠️</a:t>
            </a:r>
            <a:r>
              <a:rPr lang="ko-KR" altLang="en-US" sz="1600" b="1" dirty="0"/>
              <a:t> </a:t>
            </a:r>
            <a:r>
              <a:rPr lang="ko-KR" altLang="en-US" sz="1600" b="1" dirty="0">
                <a:solidFill>
                  <a:schemeClr val="bg1">
                    <a:lumMod val="85000"/>
                  </a:schemeClr>
                </a:solidFill>
              </a:rPr>
              <a:t>실패 분석</a:t>
            </a:r>
            <a:endParaRPr lang="en-US" altLang="ko-KR" sz="16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lang="en-US" altLang="ko-KR" sz="16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lang="en-US" altLang="ko-KR" sz="1600" b="1" dirty="0">
              <a:solidFill>
                <a:schemeClr val="bg1">
                  <a:lumMod val="85000"/>
                </a:schemeClr>
              </a:solidFill>
            </a:endParaRPr>
          </a:p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endParaRPr lang="en-US" altLang="ko-KR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60720" y="1371600"/>
            <a:ext cx="5943600" cy="4572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pPr>
              <a:spcAft>
                <a:spcPts val="1200"/>
              </a:spcAft>
              <a:defRPr sz="1800" b="1">
                <a:solidFill>
                  <a:srgbClr val="60A5FA"/>
                </a:solidFill>
                <a:latin typeface="맑은 고딕"/>
              </a:defRPr>
            </a:pPr>
            <a:r>
              <a:rPr dirty="0">
                <a:solidFill>
                  <a:srgbClr val="FFFF00"/>
                </a:solidFill>
              </a:rPr>
              <a:t>🔍</a:t>
            </a:r>
            <a:r>
              <a:rPr dirty="0"/>
              <a:t> </a:t>
            </a:r>
            <a:r>
              <a:rPr dirty="0" err="1">
                <a:solidFill>
                  <a:srgbClr val="FFFF00"/>
                </a:solidFill>
              </a:rPr>
              <a:t>지표</a:t>
            </a:r>
            <a:r>
              <a:rPr dirty="0">
                <a:solidFill>
                  <a:srgbClr val="FFFF00"/>
                </a:solidFill>
              </a:rPr>
              <a:t> </a:t>
            </a:r>
            <a:r>
              <a:rPr dirty="0" err="1">
                <a:solidFill>
                  <a:srgbClr val="FFFF00"/>
                </a:solidFill>
              </a:rPr>
              <a:t>분석</a:t>
            </a:r>
            <a:endParaRPr lang="en-US" altLang="ko-KR" dirty="0">
              <a:solidFill>
                <a:srgbClr val="FFFF00"/>
              </a:solidFill>
            </a:endParaRPr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lang="ko-KR" altLang="en-US" dirty="0"/>
              <a:t>✅ 초기 모델 대비 </a:t>
            </a:r>
            <a:r>
              <a:rPr lang="en-US" altLang="ko-KR" dirty="0"/>
              <a:t>Loss</a:t>
            </a:r>
            <a:r>
              <a:rPr lang="ko-KR" altLang="en-US" dirty="0"/>
              <a:t>가 낮아졌으며</a:t>
            </a:r>
            <a:r>
              <a:rPr lang="en-US" altLang="ko-KR" dirty="0"/>
              <a:t>, </a:t>
            </a:r>
            <a:r>
              <a:rPr lang="ko-KR" altLang="en-US" dirty="0"/>
              <a:t>이는 모델이 트랙의 특징을 제대로 학습했음을 의미</a:t>
            </a:r>
            <a:endParaRPr lang="en-US" altLang="ko-KR"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dirty="0"/>
              <a:t>✅ </a:t>
            </a:r>
            <a:r>
              <a:rPr lang="en-US" dirty="0"/>
              <a:t>Train set</a:t>
            </a:r>
            <a:r>
              <a:rPr lang="ko-KR" altLang="en-US" dirty="0"/>
              <a:t>과 </a:t>
            </a:r>
            <a:r>
              <a:rPr lang="en-US" altLang="ko-KR" dirty="0"/>
              <a:t>Validation set</a:t>
            </a:r>
            <a:r>
              <a:rPr lang="ko-KR" altLang="en-US" dirty="0"/>
              <a:t>의 정확도 차이가 크지 않아</a:t>
            </a:r>
            <a:r>
              <a:rPr lang="en-US" altLang="ko-KR" dirty="0"/>
              <a:t>, </a:t>
            </a:r>
            <a:r>
              <a:rPr lang="ko-KR" altLang="en-US" dirty="0" err="1"/>
              <a:t>과적합</a:t>
            </a:r>
            <a:r>
              <a:rPr lang="ko-KR" altLang="en-US" dirty="0"/>
              <a:t> 없이 일반화</a:t>
            </a:r>
            <a:r>
              <a:rPr lang="en-US" altLang="ko-KR" dirty="0"/>
              <a:t>(Generalization)</a:t>
            </a:r>
            <a:r>
              <a:rPr lang="ko-KR" altLang="en-US" dirty="0"/>
              <a:t>가</a:t>
            </a:r>
            <a:r>
              <a:rPr lang="en-US" altLang="ko-KR" dirty="0"/>
              <a:t> </a:t>
            </a:r>
            <a:r>
              <a:rPr lang="ko-KR" altLang="en-US" dirty="0"/>
              <a:t>잘 되었음을 확인</a:t>
            </a: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endParaRPr dirty="0"/>
          </a:p>
          <a:p>
            <a:pPr>
              <a:spcAft>
                <a:spcPts val="600"/>
              </a:spcAft>
              <a:defRPr sz="1400">
                <a:solidFill>
                  <a:srgbClr val="E0E0E0"/>
                </a:solidFill>
                <a:latin typeface="맑은 고딕"/>
              </a:defRPr>
            </a:pPr>
            <a:r>
              <a:rPr dirty="0"/>
              <a:t>✅ </a:t>
            </a:r>
            <a:r>
              <a:rPr lang="ko-KR" altLang="en-US" dirty="0"/>
              <a:t>실제 주행 테스트에서도 터미널 상의 추론 값이 곡선 주로에 맞춰 부드럽게 변화함</a:t>
            </a:r>
            <a:endParaRPr dirty="0"/>
          </a:p>
        </p:txBody>
      </p:sp>
      <p:cxnSp>
        <p:nvCxnSpPr>
          <p:cNvPr id="6" name="Connector 5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8 / 10</a:t>
            </a:r>
          </a:p>
        </p:txBody>
      </p:sp>
      <p:cxnSp>
        <p:nvCxnSpPr>
          <p:cNvPr id="8" name="Connector 5">
            <a:extLst>
              <a:ext uri="{FF2B5EF4-FFF2-40B4-BE49-F238E27FC236}">
                <a16:creationId xmlns:a16="http://schemas.microsoft.com/office/drawing/2014/main" id="{4C0F0AAB-C61C-4601-8D92-F929926E7E80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0A66628-4089-4BC5-A86C-1209B6E19473}"/>
              </a:ext>
            </a:extLst>
          </p:cNvPr>
          <p:cNvSpPr/>
          <p:nvPr/>
        </p:nvSpPr>
        <p:spPr>
          <a:xfrm>
            <a:off x="781538" y="2937646"/>
            <a:ext cx="3230171" cy="676466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C01E3C4-4E1C-4F06-9EAB-8EA79BE01E63}"/>
              </a:ext>
            </a:extLst>
          </p:cNvPr>
          <p:cNvSpPr/>
          <p:nvPr/>
        </p:nvSpPr>
        <p:spPr>
          <a:xfrm>
            <a:off x="820481" y="2937646"/>
            <a:ext cx="3285475" cy="676466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/>
              <a:t>80%</a:t>
            </a:r>
          </a:p>
          <a:p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</a:rPr>
              <a:t>10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회 시도 중 </a:t>
            </a:r>
            <a:r>
              <a:rPr lang="en-US" altLang="ko-KR" sz="1200" b="1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회 완주 성공</a:t>
            </a:r>
            <a:endParaRPr lang="en-US" altLang="ko-KR" sz="12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5EF8BB6-E9FA-44E5-A5D1-F3054D92B857}"/>
              </a:ext>
            </a:extLst>
          </p:cNvPr>
          <p:cNvSpPr/>
          <p:nvPr/>
        </p:nvSpPr>
        <p:spPr>
          <a:xfrm>
            <a:off x="781538" y="4503691"/>
            <a:ext cx="3230171" cy="982709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FB318EC-E794-4EC1-AC5F-192D1DF41B56}"/>
              </a:ext>
            </a:extLst>
          </p:cNvPr>
          <p:cNvSpPr/>
          <p:nvPr/>
        </p:nvSpPr>
        <p:spPr>
          <a:xfrm>
            <a:off x="820481" y="4503691"/>
            <a:ext cx="3285475" cy="982709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bg1">
                    <a:lumMod val="50000"/>
                  </a:schemeClr>
                </a:solidFill>
              </a:rPr>
              <a:t>무리한 각도 설정으로 인해 차체 자체의 구조적 문제로 인한 멈춤이 있었음</a:t>
            </a:r>
            <a:endParaRPr lang="en-US" altLang="ko-KR" sz="1200" b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ko-KR" altLang="en-US" sz="1200" dirty="0">
                <a:solidFill>
                  <a:srgbClr val="60A5FA"/>
                </a:solidFill>
              </a:rPr>
              <a:t>→ 각도 값을 완화하여 구조적 문제를 해결하고</a:t>
            </a:r>
            <a:r>
              <a:rPr lang="en-US" altLang="ko-KR" sz="1200" dirty="0">
                <a:solidFill>
                  <a:srgbClr val="60A5FA"/>
                </a:solidFill>
              </a:rPr>
              <a:t>, </a:t>
            </a:r>
            <a:r>
              <a:rPr lang="ko-KR" altLang="en-US" sz="1200" dirty="0">
                <a:solidFill>
                  <a:srgbClr val="60A5FA"/>
                </a:solidFill>
              </a:rPr>
              <a:t>멈춤 현상을 대비해 후진 기능도 추가함</a:t>
            </a:r>
            <a:endParaRPr lang="en-US" altLang="ko-KR" sz="1000" b="1" dirty="0">
              <a:solidFill>
                <a:srgbClr val="60A5F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2542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맑은 고딕"/>
              </a:defRPr>
            </a:pP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8.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결론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및 </a:t>
            </a:r>
            <a:r>
              <a:rPr sz="2400" dirty="0" err="1">
                <a:solidFill>
                  <a:schemeClr val="bg1">
                    <a:lumMod val="75000"/>
                  </a:schemeClr>
                </a:solidFill>
              </a:rPr>
              <a:t>배운</a:t>
            </a:r>
            <a:r>
              <a:rPr sz="2400" dirty="0">
                <a:solidFill>
                  <a:schemeClr val="bg1">
                    <a:lumMod val="75000"/>
                  </a:schemeClr>
                </a:solidFill>
              </a:rPr>
              <a:t>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360152" cy="4572000"/>
          </a:xfrm>
          <a:prstGeom prst="roundRect">
            <a:avLst/>
          </a:prstGeom>
          <a:solidFill>
            <a:srgbClr val="2A2A2A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tIns="457200" rtlCol="0" anchor="ctr"/>
          <a:lstStyle/>
          <a:p>
            <a:pPr algn="ctr">
              <a:defRPr sz="2000" b="1">
                <a:solidFill>
                  <a:srgbClr val="60A5FA"/>
                </a:solidFill>
              </a:defRPr>
            </a:pPr>
            <a:r>
              <a:rPr dirty="0"/>
              <a:t>💡 </a:t>
            </a:r>
            <a:r>
              <a:rPr dirty="0" err="1"/>
              <a:t>데이터의</a:t>
            </a:r>
            <a:r>
              <a:rPr dirty="0"/>
              <a:t> '</a:t>
            </a:r>
            <a:r>
              <a:rPr dirty="0" err="1"/>
              <a:t>질'과</a:t>
            </a:r>
            <a:r>
              <a:rPr dirty="0"/>
              <a:t> '</a:t>
            </a:r>
            <a:r>
              <a:rPr dirty="0" err="1"/>
              <a:t>균형'의</a:t>
            </a:r>
            <a:r>
              <a:rPr dirty="0"/>
              <a:t> </a:t>
            </a:r>
            <a:r>
              <a:rPr dirty="0" err="1"/>
              <a:t>중요성</a:t>
            </a:r>
            <a:endParaRPr dirty="0"/>
          </a:p>
          <a:p>
            <a:pPr>
              <a:defRPr sz="1600">
                <a:solidFill>
                  <a:srgbClr val="E0E0E0"/>
                </a:solidFill>
              </a:defRPr>
            </a:pPr>
            <a:r>
              <a:rPr dirty="0"/>
              <a:t>   - </a:t>
            </a:r>
            <a:r>
              <a:rPr dirty="0" err="1"/>
              <a:t>단순히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양보다</a:t>
            </a:r>
            <a:r>
              <a:rPr dirty="0"/>
              <a:t> </a:t>
            </a:r>
            <a:r>
              <a:rPr dirty="0" err="1"/>
              <a:t>클래스</a:t>
            </a:r>
            <a:r>
              <a:rPr dirty="0"/>
              <a:t>(</a:t>
            </a:r>
            <a:r>
              <a:rPr dirty="0" err="1"/>
              <a:t>각도</a:t>
            </a:r>
            <a:r>
              <a:rPr dirty="0"/>
              <a:t>) </a:t>
            </a:r>
            <a:r>
              <a:rPr dirty="0" err="1"/>
              <a:t>간의</a:t>
            </a:r>
            <a:r>
              <a:rPr dirty="0"/>
              <a:t> </a:t>
            </a:r>
            <a:r>
              <a:rPr dirty="0" err="1"/>
              <a:t>균형이</a:t>
            </a:r>
            <a:r>
              <a:rPr dirty="0"/>
              <a:t> </a:t>
            </a:r>
            <a:r>
              <a:rPr dirty="0" err="1"/>
              <a:t>핵심</a:t>
            </a:r>
            <a:br>
              <a:rPr dirty="0"/>
            </a:br>
            <a:br>
              <a:rPr dirty="0"/>
            </a:br>
            <a:endParaRPr dirty="0"/>
          </a:p>
          <a:p>
            <a:pPr algn="ctr">
              <a:spcBef>
                <a:spcPts val="4000"/>
              </a:spcBef>
              <a:defRPr sz="1800" b="1">
                <a:solidFill>
                  <a:srgbClr val="FFFFFF"/>
                </a:solidFill>
              </a:defRPr>
            </a:pPr>
            <a:endParaRPr lang="en-US" altLang="ko-KR" dirty="0"/>
          </a:p>
          <a:p>
            <a:pPr algn="ctr">
              <a:spcBef>
                <a:spcPts val="4000"/>
              </a:spcBef>
              <a:defRPr sz="1800" b="1">
                <a:solidFill>
                  <a:srgbClr val="FFFFFF"/>
                </a:solidFill>
              </a:defRPr>
            </a:pPr>
            <a:endParaRPr lang="en-US" altLang="ko-KR" dirty="0"/>
          </a:p>
        </p:txBody>
      </p:sp>
      <p:cxnSp>
        <p:nvCxnSpPr>
          <p:cNvPr id="5" name="Connector 4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492240"/>
            <a:ext cx="233589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9 / 10</a:t>
            </a:r>
          </a:p>
        </p:txBody>
      </p:sp>
      <p:cxnSp>
        <p:nvCxnSpPr>
          <p:cNvPr id="7" name="Connector 5">
            <a:extLst>
              <a:ext uri="{FF2B5EF4-FFF2-40B4-BE49-F238E27FC236}">
                <a16:creationId xmlns:a16="http://schemas.microsoft.com/office/drawing/2014/main" id="{B93B6E20-D0AB-425D-A8BF-C7D8E9B689EE}"/>
              </a:ext>
            </a:extLst>
          </p:cNvPr>
          <p:cNvCxnSpPr/>
          <p:nvPr/>
        </p:nvCxnSpPr>
        <p:spPr>
          <a:xfrm>
            <a:off x="457200" y="827425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CD12B6E-914E-4BEF-9ECE-50CD3EC7E2B2}"/>
              </a:ext>
            </a:extLst>
          </p:cNvPr>
          <p:cNvSpPr/>
          <p:nvPr/>
        </p:nvSpPr>
        <p:spPr>
          <a:xfrm>
            <a:off x="1586204" y="2090057"/>
            <a:ext cx="8770776" cy="1338943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84DCEFC-97B1-4B16-8085-04A3258D1314}"/>
              </a:ext>
            </a:extLst>
          </p:cNvPr>
          <p:cNvSpPr/>
          <p:nvPr/>
        </p:nvSpPr>
        <p:spPr>
          <a:xfrm>
            <a:off x="1625148" y="2090057"/>
            <a:ext cx="8770776" cy="1338943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/>
          </a:p>
          <a:p>
            <a:r>
              <a:rPr lang="ko-KR" altLang="en-US" b="1" dirty="0">
                <a:solidFill>
                  <a:srgbClr val="FFFF00"/>
                </a:solidFill>
              </a:rPr>
              <a:t>💡</a:t>
            </a:r>
            <a:r>
              <a:rPr lang="ko-KR" altLang="en-US" b="1" dirty="0"/>
              <a:t> 데이터의 </a:t>
            </a:r>
            <a:r>
              <a:rPr lang="en-US" altLang="ko-KR" b="1" dirty="0"/>
              <a:t>'</a:t>
            </a:r>
            <a:r>
              <a:rPr lang="ko-KR" altLang="en-US" b="1" dirty="0"/>
              <a:t>질</a:t>
            </a:r>
            <a:r>
              <a:rPr lang="en-US" altLang="ko-KR" b="1" dirty="0"/>
              <a:t>'</a:t>
            </a:r>
            <a:r>
              <a:rPr lang="ko-KR" altLang="en-US" b="1" dirty="0"/>
              <a:t>과 </a:t>
            </a:r>
            <a:r>
              <a:rPr lang="en-US" altLang="ko-KR" b="1" dirty="0"/>
              <a:t>'</a:t>
            </a:r>
            <a:r>
              <a:rPr lang="ko-KR" altLang="en-US" b="1" dirty="0"/>
              <a:t>균형</a:t>
            </a:r>
            <a:r>
              <a:rPr lang="en-US" altLang="ko-KR" b="1" dirty="0"/>
              <a:t>'</a:t>
            </a:r>
            <a:r>
              <a:rPr lang="ko-KR" altLang="en-US" b="1" dirty="0"/>
              <a:t>의 중요성</a:t>
            </a:r>
            <a:endParaRPr lang="en-US" altLang="ko-KR" b="1" dirty="0"/>
          </a:p>
          <a:p>
            <a:endParaRPr lang="ko-KR" altLang="en-US" sz="1200" b="1" dirty="0"/>
          </a:p>
          <a:p>
            <a:r>
              <a:rPr lang="ko-KR" altLang="en-US" sz="1400" dirty="0"/>
              <a:t>단순히 데이터를 많이 모으는 것보다</a:t>
            </a:r>
            <a:r>
              <a:rPr lang="en-US" altLang="ko-KR" sz="1400" dirty="0"/>
              <a:t>, </a:t>
            </a:r>
            <a:r>
              <a:rPr lang="ko-KR" altLang="en-US" sz="1400" b="1" dirty="0"/>
              <a:t>클래스</a:t>
            </a:r>
            <a:r>
              <a:rPr lang="en-US" altLang="ko-KR" sz="1400" b="1" dirty="0"/>
              <a:t>(</a:t>
            </a:r>
            <a:r>
              <a:rPr lang="ko-KR" altLang="en-US" sz="1400" b="1" dirty="0"/>
              <a:t>각도</a:t>
            </a:r>
            <a:r>
              <a:rPr lang="en-US" altLang="ko-KR" sz="1400" b="1" dirty="0"/>
              <a:t>) </a:t>
            </a:r>
            <a:r>
              <a:rPr lang="ko-KR" altLang="en-US" sz="1400" b="1" dirty="0"/>
              <a:t>간의 균형</a:t>
            </a:r>
            <a:r>
              <a:rPr lang="ko-KR" altLang="en-US" sz="1400" dirty="0"/>
              <a:t>을 맞추는 것이 모델 성능에 결정적인 영향을 미친다는 것을 </a:t>
            </a:r>
            <a:r>
              <a:rPr lang="en-US" altLang="ko-KR" sz="1400" dirty="0"/>
              <a:t>3</a:t>
            </a:r>
            <a:r>
              <a:rPr lang="ko-KR" altLang="en-US" sz="1400" dirty="0"/>
              <a:t>번의 시행착오를 통해 체득함</a:t>
            </a:r>
            <a:endParaRPr lang="en-US" altLang="ko-KR" sz="1400" dirty="0"/>
          </a:p>
          <a:p>
            <a:pPr algn="ctr"/>
            <a:endParaRPr lang="ko-KR" altLang="en-US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6275826-82ED-407D-813D-AD0AE02D43C5}"/>
              </a:ext>
            </a:extLst>
          </p:cNvPr>
          <p:cNvSpPr/>
          <p:nvPr/>
        </p:nvSpPr>
        <p:spPr>
          <a:xfrm>
            <a:off x="1586204" y="3641736"/>
            <a:ext cx="8770776" cy="1338943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12E2CD3-02A9-411D-8352-BA6335A584C1}"/>
              </a:ext>
            </a:extLst>
          </p:cNvPr>
          <p:cNvSpPr/>
          <p:nvPr/>
        </p:nvSpPr>
        <p:spPr>
          <a:xfrm>
            <a:off x="1625148" y="3641736"/>
            <a:ext cx="8770776" cy="1338943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b="1" dirty="0"/>
          </a:p>
          <a:p>
            <a:r>
              <a:rPr lang="ko-KR" altLang="en-US" b="1" dirty="0">
                <a:solidFill>
                  <a:schemeClr val="accent1"/>
                </a:solidFill>
              </a:rPr>
              <a:t>🔍</a:t>
            </a:r>
            <a:r>
              <a:rPr lang="ko-KR" altLang="en-US" b="1" dirty="0"/>
              <a:t> 올바른 데이터 증강</a:t>
            </a:r>
            <a:endParaRPr lang="en-US" altLang="ko-KR" b="1" dirty="0"/>
          </a:p>
          <a:p>
            <a:endParaRPr lang="en-US" altLang="ko-KR" sz="1200" b="1" dirty="0"/>
          </a:p>
          <a:p>
            <a:r>
              <a:rPr lang="ko-KR" altLang="en-US" sz="1400" dirty="0"/>
              <a:t>현실 세계의 물리적 특성</a:t>
            </a:r>
            <a:r>
              <a:rPr lang="en-US" altLang="ko-KR" sz="1400" dirty="0"/>
              <a:t>(</a:t>
            </a:r>
            <a:r>
              <a:rPr lang="ko-KR" altLang="en-US" sz="1400" dirty="0"/>
              <a:t>조명</a:t>
            </a:r>
            <a:r>
              <a:rPr lang="en-US" altLang="ko-KR" sz="1400" dirty="0"/>
              <a:t>, </a:t>
            </a:r>
            <a:r>
              <a:rPr lang="ko-KR" altLang="en-US" sz="1400" dirty="0"/>
              <a:t>배경 등</a:t>
            </a:r>
            <a:r>
              <a:rPr lang="en-US" altLang="ko-KR" sz="1400" dirty="0"/>
              <a:t>)</a:t>
            </a:r>
            <a:r>
              <a:rPr lang="ko-KR" altLang="en-US" sz="1400" dirty="0"/>
              <a:t>을 고려하지 않은 기계적인 데이터 증강은 오히려 모델 성능을 떨어뜨릴 수 있음을 확인함</a:t>
            </a:r>
            <a:endParaRPr lang="en-US" altLang="ko-KR" sz="1400" dirty="0"/>
          </a:p>
          <a:p>
            <a:pPr algn="ctr"/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23C975-EAC9-4852-B9CC-F2BEB7A9B50B}"/>
              </a:ext>
            </a:extLst>
          </p:cNvPr>
          <p:cNvSpPr txBox="1"/>
          <p:nvPr/>
        </p:nvSpPr>
        <p:spPr>
          <a:xfrm>
            <a:off x="3293706" y="5103845"/>
            <a:ext cx="5570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프로젝트를 통해 </a:t>
            </a:r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</a:rPr>
              <a:t>AI </a:t>
            </a:r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모델 학습의 전체 파이프라인을 경험하고</a:t>
            </a:r>
            <a:r>
              <a:rPr lang="en-US" altLang="ko-KR" sz="1400" dirty="0">
                <a:solidFill>
                  <a:schemeClr val="bg1">
                    <a:lumMod val="65000"/>
                  </a:schemeClr>
                </a:solidFill>
              </a:rPr>
              <a:t>,</a:t>
            </a:r>
          </a:p>
          <a:p>
            <a:pPr algn="ctr"/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자율 주행의 기초 원리를 성공적으로 구현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079911" y="2692569"/>
            <a:ext cx="4031873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 err="1"/>
              <a:t>감사합니다</a:t>
            </a:r>
            <a:endParaRPr dirty="0"/>
          </a:p>
        </p:txBody>
      </p:sp>
      <p:cxnSp>
        <p:nvCxnSpPr>
          <p:cNvPr id="4" name="Connector 3"/>
          <p:cNvCxnSpPr/>
          <p:nvPr/>
        </p:nvCxnSpPr>
        <p:spPr>
          <a:xfrm>
            <a:off x="457200" y="6400800"/>
            <a:ext cx="11274552" cy="0"/>
          </a:xfrm>
          <a:prstGeom prst="line">
            <a:avLst/>
          </a:prstGeom>
          <a:ln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6492240"/>
            <a:ext cx="240161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8888"/>
                </a:solidFill>
              </a:defRPr>
            </a:pPr>
            <a:r>
              <a:rPr lang="ko-KR" altLang="en-US" dirty="0"/>
              <a:t>글로벌시스템융합과 </a:t>
            </a:r>
            <a:r>
              <a:rPr dirty="0"/>
              <a:t>		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894</Words>
  <Application>Microsoft Office PowerPoint</Application>
  <PresentationFormat>와이드스크린</PresentationFormat>
  <Paragraphs>173</Paragraphs>
  <Slides>10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USER</cp:lastModifiedBy>
  <cp:revision>21</cp:revision>
  <dcterms:created xsi:type="dcterms:W3CDTF">2013-01-27T09:14:16Z</dcterms:created>
  <dcterms:modified xsi:type="dcterms:W3CDTF">2025-12-09T07:22:17Z</dcterms:modified>
  <cp:category/>
</cp:coreProperties>
</file>